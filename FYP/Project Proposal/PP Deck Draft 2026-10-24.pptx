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all bracketed content. Do not present a technology stack without explaining the research gap, requirements, architecture, methodology and evaluation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0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2DA8"/>
                </a:solidFill>
              </a:rPr>
              <a:t>6SENG010C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29"/>
                </a:solidFill>
              </a:rPr>
              <a:t>Software Engineering Final Project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5361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1F29"/>
                </a:solidFill>
              </a:rPr>
              <a:t>Market-State-Conditioned Orchestration of Heterogeneous Agents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4B59"/>
                </a:solidFill>
              </a:rPr>
              <a:t>Financial Decision Support: A Colombo Stock Exchange Study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2907792"/>
            <a:ext cx="5394960" cy="960120"/>
          </a:xfrm>
          <a:prstGeom prst="rect">
            <a:avLst/>
          </a:prstGeom>
          <a:solidFill>
            <a:srgbClr val="F6F2FA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907792"/>
            <a:ext cx="73152" cy="96012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3017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Student details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3383280"/>
            <a:ext cx="51206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Shaahid Fathul   |   IIT 20223216 / UoW W1986734   |   Supervisor: Guhanathan Poravi   |   2026-2027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2907792"/>
            <a:ext cx="5303520" cy="960120"/>
          </a:xfrm>
          <a:prstGeom prst="rect">
            <a:avLst/>
          </a:prstGeom>
          <a:solidFill>
            <a:srgbClr val="F6F2FA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2907792"/>
            <a:ext cx="73152" cy="96012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Project title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28232" y="3383280"/>
            <a:ext cx="502920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Market-State-Conditioned Orchestration of Heterogeneous Agents for Financial Decision Support: A Colombo Stock Exchange Study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4160520"/>
            <a:ext cx="10972800" cy="1051560"/>
          </a:xfrm>
          <a:prstGeom prst="rect">
            <a:avLst/>
          </a:prstGeom>
          <a:solidFill>
            <a:srgbClr val="F8F7FB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4160520"/>
            <a:ext cx="73152" cy="1051560"/>
          </a:xfrm>
          <a:prstGeom prst="rect">
            <a:avLst/>
          </a:prstGeom>
          <a:solidFill>
            <a:srgbClr val="007A78"/>
          </a:solidFill>
          <a:ln w="12700">
            <a:solidFill>
              <a:srgbClr val="007A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270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One-sentence research focus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" y="4636008"/>
            <a:ext cx="10698480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This project investigates how the influence of methodologically heterogeneous financial agents should be set when the reliability of their evidence channels varies with market conditions, by designing, implementing and evaluating a market-state-conditioned orchestration operator on Colombo Stock Exchange data.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4B59"/>
                </a:solidFill>
              </a:rPr>
              <a:t>Design science research. Evolutionary prototyping. Evaluated against four alternatives on 355 CSE securities, 2012 Q3 to 2026 Q2.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storyline: research spine + SE spine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3965448"/>
        </p:xfrm>
        <a:graphic>
          <a:graphicData uri="http://schemas.openxmlformats.org/drawingml/2006/table">
            <a:tbl>
              <a:tblPr/>
              <a:tblGrid>
                <a:gridCol w="2971800"/>
                <a:gridCol w="3246120"/>
                <a:gridCol w="4846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spine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engineering spine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examiners should see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Problem: agent reliability varies with market state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pipeline that does not emit confident output from an empty channel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Slides 3 and 9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 reviewed papers; the six nearest systems contrasted clause by clause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requirement carries the paper or measurement that forced it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Slides 4, 5, 6, 8, 10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main research question and two supporting questions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Four agents, one orchestrator, eight stated exclusions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Slides 6, 7, 10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science with a controlled comparative experiment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Five layers, point-in-time data access, a verified data pipeline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Slides 11, 13, 14, 15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weighting operator with a named lineage, and evidence either way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prototype, no interface, licensed data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Slides 16 to 20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8064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Spoken summary: I will show the research gap and the contribution, then how the artefact, methodology and evaluation address it, and then what I am not claiming.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or opportunity and project goal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611880" cy="1325880"/>
          </a:xfrm>
          <a:prstGeom prst="rect">
            <a:avLst/>
          </a:prstGeom>
          <a:solidFill>
            <a:srgbClr val="F6F2FA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371600"/>
            <a:ext cx="73152" cy="132588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813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Define the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1847088"/>
            <a:ext cx="333756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Four agents each emit a signal and something has to turn them into one decision. In the systems reviewed that combination is fixed at design time, and most carry no weight quantity at all.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371600"/>
            <a:ext cx="3611880" cy="1325880"/>
          </a:xfrm>
          <a:prstGeom prst="rect">
            <a:avLst/>
          </a:prstGeom>
          <a:solidFill>
            <a:srgbClr val="F8F7FB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371600"/>
            <a:ext cx="73152" cy="1325880"/>
          </a:xfrm>
          <a:prstGeom prst="rect">
            <a:avLst/>
          </a:prstGeom>
          <a:solidFill>
            <a:srgbClr val="007A78"/>
          </a:solidFill>
          <a:ln w="12700">
            <a:solidFill>
              <a:srgbClr val="007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7992" y="14813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Evidence of significance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07992" y="1847088"/>
            <a:ext cx="333756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Pavithya et al. fixed a CSE combination at three to one on a score from an easier task. AlphaAgents deleted an agent by hand. FinAgent returned 16% against buy-and-hold's 29%.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3474720" cy="1325880"/>
          </a:xfrm>
          <a:prstGeom prst="rect">
            <a:avLst/>
          </a:prstGeom>
          <a:solidFill>
            <a:srgbClr val="F6F2FA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371600"/>
            <a:ext cx="73152" cy="132588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1481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Project goal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02752" y="1847088"/>
            <a:ext cx="320040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Design, implement and evaluate a market-state-conditioned orchestration operator, and establish under what market conditions it earns its place against fixed, static learned and performance-reactive weighting.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54680"/>
          <a:ext cx="10835640" cy="2176272"/>
        </p:xfrm>
        <a:graphic>
          <a:graphicData uri="http://schemas.openxmlformats.org/drawingml/2006/table">
            <a:tbl>
              <a:tblPr/>
              <a:tblGrid>
                <a:gridCol w="2926080"/>
                <a:gridCol w="7909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project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 or opportunity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influence is fixed at design time while agent reliability varies with measurable market state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Affected users and stakeholders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Investment decision-makers on thin markets, retail participants exposed to false confidence, and the researcher needing attributable results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goal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the state-conditioned weighting operator and test it against four alternatives under a cost-aware, regime-decomposed protocol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outcomes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 weight sensitivity to liquidity; attributable five-arm evidence; four confidence mechanisms compared; a CSE baseline set; an adjusted, screened panel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evidence to research gap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3749040"/>
        </p:xfrm>
        <a:graphic>
          <a:graphicData uri="http://schemas.openxmlformats.org/drawingml/2006/table">
            <a:tbl>
              <a:tblPr/>
              <a:tblGrid>
                <a:gridCol w="2240280"/>
                <a:gridCol w="2560320"/>
                <a:gridCol w="2743200"/>
                <a:gridCol w="3520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source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shows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Limitation/tension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Resulting research gap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Academic literature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heterogeneity widely adopted; combination treated as a solved detail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 reviewed systems carry no weight object to criticise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 adapts influence to measured conditions outside the agent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systems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Four systems each get one necessary clause right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misses the others; the nearest is strong in one direction only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four clauses together: continuous, influence, heterogeneous, exogenous state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evidence, CSE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 Granger-causes the index at p = 0.0041; long memory in all three regimes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studies measure these quantities and consume none of them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measured quantity on one side and a decision needing it on the other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evidence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papers model execution cost against depth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or square-root only; no participation sweep; cost deducted after optimising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shape in order size untested; cost sits outside the objective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85800" y="5715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3030"/>
                </a:solidFill>
              </a:rPr>
              <a:t>Equal weighting is hard to beat across fifty years of evidence, which is why it is the pre-registered primary benchmark here rather than a convenience baseline.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literature landscape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3520440" cy="1143000"/>
          </a:xfrm>
          <a:prstGeom prst="rect">
            <a:avLst/>
          </a:prstGeom>
          <a:solidFill>
            <a:srgbClr val="F6F2FA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356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Theme 1: problem domain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1801368"/>
            <a:ext cx="324612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14 CSE and Sri Lanka papers. Illiquidity shocks depress returns, volume leads the index, long memory appears in all three regimes, and the fundamental channel is structurally thin.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325880"/>
            <a:ext cx="3520440" cy="1143000"/>
          </a:xfrm>
          <a:prstGeom prst="rect">
            <a:avLst/>
          </a:prstGeom>
          <a:solidFill>
            <a:srgbClr val="F8F7FB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325880"/>
            <a:ext cx="73152" cy="1143000"/>
          </a:xfrm>
          <a:prstGeom prst="rect">
            <a:avLst/>
          </a:prstGeom>
          <a:solidFill>
            <a:srgbClr val="007A78"/>
          </a:solidFill>
          <a:ln w="12700">
            <a:solidFill>
              <a:srgbClr val="007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7992" y="14356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Theme 2: methods/approaches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07992" y="1801368"/>
            <a:ext cx="324612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32 papers across multi-agent systems, forecast combination, portfolio allocation and retrieval. Every necessary clause exists somewhere and no reviewed system holds them together.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325880"/>
            <a:ext cx="3429000" cy="1143000"/>
          </a:xfrm>
          <a:prstGeom prst="rect">
            <a:avLst/>
          </a:prstGeom>
          <a:solidFill>
            <a:srgbClr val="F6F2FA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325880"/>
            <a:ext cx="73152" cy="114300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1435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Theme 3: evaluation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02752" y="1801368"/>
            <a:ext cx="315468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18 protocol sources and 4 surveys. Walk-forward splits, regime decomposition, ablation and significance testing are the standard the strong work meets.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80360"/>
          <a:ext cx="10835640" cy="2304288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2743200"/>
                <a:gridCol w="2880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Paper/source cluster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contribution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Implication for this project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 domain, 14 CSE papers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Liquidity, volatility and persistence measured on this market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Measured, then consumed by no decision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conditioning set is locally evidenced rather than assumed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Methods, 32 papers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Heterogeneous agents, feature-conditioned weights, state conditioning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reviewed system combines all four clauses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contribution is the conjunction, not any single clause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Evaluation, 22 papers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Walk-forward, ablation, HAC and bootstrap testing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 of 59 report out-of-sample; only 4 reproducible from the paper alone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released with recorded seeds, requirement NFR3</a:t>
                      </a:r>
                      <a:endParaRPr lang="en-US" sz="10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Only 4 of 59 reviewed papers are reproducible from the paper alone, which is why reproducibility is a requirement here rather than an aspiration.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gap, novelty and contribution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2784348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292608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exists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is missing/weak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proposed novelty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contribution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Multi-agent systems combining analysts through free text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Influence fixed at design time; mostly no weight object to vary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 agent-level weighting on measured exogenous market state, in a low-capacity form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Attributable evidence, five arms and per-input ablation, on when state conditioning earns its place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 cost modelled against depth in two papers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or square-root form; no participation sweep; cost deducted after optimising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Nonlinear depth-conditioned cost held inside the convex allocation objective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measured cost-curve shape in order size, not found for any market in the reviewed set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 declared in agent output contracts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reviewed system declares a confidence field and never computes with it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 computed from output structure and mapped onto one common scale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Four mechanisms compared on a single agent pool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800600"/>
            <a:ext cx="10835640" cy="1005840"/>
          </a:xfrm>
          <a:prstGeom prst="rect">
            <a:avLst/>
          </a:prstGeom>
          <a:solidFill>
            <a:srgbClr val="F8F7FB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4800600"/>
            <a:ext cx="73152" cy="100584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4910328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Novelty check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4672" y="5276088"/>
            <a:ext cx="105613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Each clause defeats a named nearest neighbour: continuous against a 30-day clock, influence against selection, heterogeneous against six identical networks, exogenous state against a state vector with no environment block. The nearest ancestor is feature-conditioned forecast combination, whose features describe the series rather than the market.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question(s), objectives and success criteria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3602736"/>
        </p:xfrm>
        <a:graphic>
          <a:graphicData uri="http://schemas.openxmlformats.org/drawingml/2006/table">
            <a:tbl>
              <a:tblPr/>
              <a:tblGrid>
                <a:gridCol w="3246120"/>
                <a:gridCol w="3749040"/>
                <a:gridCol w="4069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question / objective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will be answered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of success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MRQ. How should the influence of heterogeneous agents be adapted to measured market state, and under what conditions does it earn its place?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Five arms over identical cached agent outputs, with one ablation per state input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Cost-adjusted full-window return exceeding equal weight by more than its own interquartile range, HAC and bootstrap at 0.05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SQ1. How should the system alter execution behaviour and the influence of price-derived agents when liquidity deteriorates?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Liquidity sensitivity sweep, plus the reliability and cost-objective ablations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measured weight sensitivity, with the effect attributed to trust, execution, or both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SQ2. How can confidence from architecturally unlike agents be placed on a common scale?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Four structural mechanisms, then one accuracy-at-threshold transform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Per-agent calibration curves and the confidence ablation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Objectives O1 to O6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layer, agents, state vector, orchestrator, five-arm evaluation, CSE baseline set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Acceptance checks A1 to A6, each producing a named artefact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715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No question is answerable yes or no. If adaptation does not earn its place, the per-input ablations, the oracle gap and the regime split each still produce a reportable finding.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solution and baseline comparison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11384280" cy="3218688"/>
        </p:xfrm>
        <a:graphic>
          <a:graphicData uri="http://schemas.openxmlformats.org/drawingml/2006/table">
            <a:tbl>
              <a:tblPr/>
              <a:tblGrid>
                <a:gridCol w="1920240"/>
                <a:gridCol w="2057400"/>
                <a:gridCol w="2057400"/>
                <a:gridCol w="242316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Solution/baseline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Relevant capability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Limitation/gap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Implication for my design/evaluation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Prompt-combined systems (TradingAgents, FinVision)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Specialised analysts feeding one decision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Genuinely heterogeneous analyst roles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 through free text; no weight object exists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common structured output contract, requirement FR2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HedgeAgents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Solved optimisation over an explicit weight vector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weights with real mathematics behind them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Weights over assets rather than methods; uncalibrated inputs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shared decision, and calibrate before optimising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TRIAG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orchestrator that learns to coordinate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Learned coordination over multiple agents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environment block; declares confidence and never computes with it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 exogenous state, and the motivation for SQ2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CSE Graph-RAG, local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Structure-aware retrieval over CSE filings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 prior art on this market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snapshot with no as-of field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as-of cursor; retrieval is not claimed as novel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Pavithya et al. 2021, local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heterogeneous models, one shared decision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closest shape to this project, on this market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Combination fixed at three to one from a score on an easier task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agent's weight cannot come from its own in-domain score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394960"/>
            <a:ext cx="10835640" cy="777240"/>
          </a:xfrm>
          <a:prstGeom prst="rect">
            <a:avLst/>
          </a:prstGeom>
          <a:solidFill>
            <a:srgbClr val="F8F7FB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5394960"/>
            <a:ext cx="73152" cy="777240"/>
          </a:xfrm>
          <a:prstGeom prst="rect">
            <a:avLst/>
          </a:prstGeom>
          <a:solidFill>
            <a:srgbClr val="007A78"/>
          </a:solidFill>
          <a:ln w="12700">
            <a:solidFill>
              <a:srgbClr val="007A7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5504688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Minimum expectation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4672" y="5870448"/>
            <a:ext cx="1056132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Compared against four arms over identical cached agent outputs: equal weight, static learned weight, performance-reactive weighting with no market state, and an oracle. Evaluation design on slide 14.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Stakeholders, users and context of use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3675888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274320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Stakeholder/user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or responsibility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source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implication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operator: the researcher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Reproducible runs and attributable results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4 of 59 reviewed papers reproducible from the paper alone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run once and arms consume one cache; seeds recorded; pipeline released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Investment decision-maker on a thin market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confident signal from an evidence channel that is empty today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AlphaAgents deleted an agent by hand when its channel went thin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Abstention channel, confidence floor, unparseable as a separate state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Retail participants, if such a system were deployed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exposed to false confidence or to hidden execution cost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ownership 66.1% against insider ownership 5.7%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prototype framing; slippage presented as simulated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Colombo Stock Exchange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Licensed, terms-compliant use of published data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sources preferred over scraping, decision of 20 September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Library purchased; official panel as the base; licence recorded per source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Supervisor, panel and examiners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Claims that are auditable and scoped to their evidence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Standing language rule and dated revision headers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Claims scoped to tested conditions; withdrawn claims recorded rather than deleted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715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No interface in proposal scope. Inputs are a run specification; outputs are run artefacts, weight traces, ablation tables and diagnostics.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engineering: what the system must 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11384280" cy="3927348"/>
        </p:xfrm>
        <a:graphic>
          <a:graphicData uri="http://schemas.openxmlformats.org/drawingml/2006/table">
            <a:tbl>
              <a:tblPr/>
              <a:tblGrid>
                <a:gridCol w="685800"/>
                <a:gridCol w="3108960"/>
                <a:gridCol w="1325880"/>
                <a:gridCol w="2971800"/>
                <a:gridCol w="3291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Source/rationale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Acceptance evidence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FR1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single as-of cursor; every component queries the data layer rather than receiving a dataframe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Functional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documented lookahead failures on this market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query past the cursor raises CursorViolation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NFR3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reproducible from a released pipeline with recorded seeds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4 of 59 reviewed papers reproducible from the paper alone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runs at one seed produce identical artefacts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DR2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Returns computed on a corporate-action adjusted series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JKH closed at 212.50 then 21.20, a split read as a 90% fall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panel built; 31 register corrections each confirmed twice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MAI1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confidence computed from output structure, never self-reported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Model/AI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reviewed system declares a confidence field and never computes with it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agent emits a self-assessed confidence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fifth agent, including macro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Boundary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ARDL adjusted R2 of 0.189; Granger nulls for money supply and inflation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Stated scope exclusion, carried on slide 20</a:t>
                      </a:r>
                      <a:endParaRPr lang="en-US" sz="9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7790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42 requirements across five categories, each carrying a source and an acceptance test. The full set and the traceability chain are in the backup slides.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technical solution and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3889248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2743200"/>
                <a:gridCol w="3611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Layer/component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Responsibility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decision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Uncertainty to verify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control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specification: universe, window, arm, ablation, seed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 pipeline rather than an application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material at proposal stage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layer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Loaders, security master, calendar, adjusted panel, as-of cursor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cursor for all four channels; a query interface, not dataframes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 ex-dates flagged approximate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layer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Four heterogeneous agents behind one output contract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Heterogeneity preserved rather than one backbone with four prompts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Pairwise agent error correlation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and orchestration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Liquidity, volatility, persistence, calibrated confidence, weighting, abstention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Low-capacity gated linear form with no interaction term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Entropy collapse; weights inert against liquidity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 and reporting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Five arms over cached outputs, ablations, diagnostics, significance testing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run once; all arms consume one cache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oracle gap, which prices estimation cost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715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Python and the scientific stack, with LangChain as a stated placeholder and the model backbone open against four selection criteria. The cursor exists because the main question's answer is worthless under lookahead.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dataset or evidence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374904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297180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Data/evidence need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Source/collection route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check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Ethics/security control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and volume panel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CSE Data Library daily share price lists, purchased at the student rate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Turnover reconciled to 0.13%; 99.93% close agreement across 817k rows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Licensed purchase rather than scraping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actions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Library registers 01 to 05, joined through a name crosswalk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Year-end share counts confirmed per security per year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registers rather than inferred adjustments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Liquidity inputs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Turnover, trade count, float, with crossings stripped at daily granularity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Crossings run from 8.8% to 47.4% of annual market turnover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licensed source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Filings corpus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22,893 documents, 2012 to 2026, dated by CSE announcement date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publication date on every document; coverage measured by a probe set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Exchange terms respected; documents not redistributed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715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Window 2012 Q3 to 2026 Q2, anchored to the S&amp;P SL20 launch so that no index-definition break sits inside the sample. 355 core securities and 233 candidates.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methodology + development methodology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3493008"/>
        </p:xfrm>
        <a:graphic>
          <a:graphicData uri="http://schemas.openxmlformats.org/drawingml/2006/table">
            <a:tbl>
              <a:tblPr/>
              <a:tblGrid>
                <a:gridCol w="2514600"/>
                <a:gridCol w="3840480"/>
                <a:gridCol w="4709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Methodology layer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controls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project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design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the knowledge claim is investigated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science research, with a controlled comparative experiment as the evaluation strategy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process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the artefact is built iteratively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Evolutionary prototyping managed through stage gates. The prototype validates mechanism feasibility, not requirements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 protocol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evidence is collected and interpreted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Walk-forward splits, five seeds, regime decomposition, cost sweep, HAC and bootstrap testing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Validity controls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bias and weak inference are reduced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As-of cursor, arms differing only in the weighting function, an oracle pricing estimation cost, pre-registration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440680"/>
            <a:ext cx="10835640" cy="731520"/>
          </a:xfrm>
          <a:prstGeom prst="rect">
            <a:avLst/>
          </a:prstGeom>
          <a:solidFill>
            <a:srgbClr val="F8F7FB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5440680"/>
            <a:ext cx="73152" cy="731520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5550408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Important distinction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4672" y="5916168"/>
            <a:ext cx="10561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The development process says how the artefact is built. The research design says what would count as having learned something from it. Only the five-arm comparison answers the second.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or evaluation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4251960"/>
        </p:xfrm>
        <a:graphic>
          <a:graphicData uri="http://schemas.openxmlformats.org/drawingml/2006/table">
            <a:tbl>
              <a:tblPr/>
              <a:tblGrid>
                <a:gridCol w="2240280"/>
                <a:gridCol w="4937760"/>
                <a:gridCol w="3886200"/>
              </a:tblGrid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 element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 PP detail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content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Baseline/comparator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will the proposed approach be compared against?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will success be measured quantitatively/qualitatively?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Protocol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Train/test split, scenarios, participants, tasks or cases.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Ablation/sensitivity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component or parameter will be tested separately?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criteria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result would support the project aim?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7790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A strong evaluation does not only show that the system runs; it shows whether the proposed contribution is useful, credible and limited.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quality assurance and traceability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4160520"/>
        </p:xfrm>
        <a:graphic>
          <a:graphicData uri="http://schemas.openxmlformats.org/drawingml/2006/table">
            <a:tbl>
              <a:tblPr/>
              <a:tblGrid>
                <a:gridCol w="2743200"/>
                <a:gridCol w="3886200"/>
                <a:gridCol w="4572000"/>
              </a:tblGrid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Test/QA area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expected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and component tests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 isolated logic and model pipeline steps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[Test results, coverage where suitable]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tests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 components communicate correctly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[API, DB, model-service tests]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Requirements-based system tests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each major FR/NFR is satisfied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[Traceability matrix]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Data/model checks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 data leakage, bias, drift, invalid inputs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[Validation logs, error analysis]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Usability/accessibility/security checks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 responsible use and quality constraints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[Heuristic/user/security evidence]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715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Link tests to requirements and research questions. Testing is not an afterthought at final submission.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Iteration, feedback, change and AI verification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5257800" cy="1600200"/>
          </a:xfrm>
          <a:prstGeom prst="rect">
            <a:avLst/>
          </a:prstGeom>
          <a:solidFill>
            <a:srgbClr val="F6F2FA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25880"/>
            <a:ext cx="73152" cy="160020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4356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Iteration and feedback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801368"/>
            <a:ext cx="4983480" cy="1033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How requirements will be refined; how supervisor/user/domain feedback will be captured; how changes will be prioritised; how uncertainty will be handled.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257800" cy="1600200"/>
          </a:xfrm>
          <a:prstGeom prst="rect">
            <a:avLst/>
          </a:prstGeom>
          <a:solidFill>
            <a:srgbClr val="F8F7FB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25880"/>
            <a:ext cx="73152" cy="1600200"/>
          </a:xfrm>
          <a:prstGeom prst="rect">
            <a:avLst/>
          </a:prstGeom>
          <a:solidFill>
            <a:srgbClr val="007A78"/>
          </a:solidFill>
          <a:ln w="12700">
            <a:solidFill>
              <a:srgbClr val="007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4356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AI use and verification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82512" y="1801368"/>
            <a:ext cx="4983480" cy="1033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Where AI may be used; what it will not replace; how code, design, tests and literature summaries will be checked; how ownership will be defended.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83280"/>
          <a:ext cx="10835640" cy="2057400"/>
        </p:xfrm>
        <a:graphic>
          <a:graphicData uri="http://schemas.openxmlformats.org/drawingml/2006/table">
            <a:tbl>
              <a:tblPr/>
              <a:tblGrid>
                <a:gridCol w="3200400"/>
                <a:gridCol w="3931920"/>
                <a:gridCol w="3703320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AI-assisted activity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 method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retained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[Code/test generation]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[Manual review, official docs, tests]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[Prompts, commits, tests]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[Literature summarisation]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[Read original source, citation check]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[Notes and source matrix]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[Design alternatives]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[Compare with requirements/risks]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[Decision record]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plan: stages, milestones and dependencies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3977640"/>
        </p:xfrm>
        <a:graphic>
          <a:graphicData uri="http://schemas.openxmlformats.org/drawingml/2006/table">
            <a:tbl>
              <a:tblPr/>
              <a:tblGrid>
                <a:gridCol w="1645920"/>
                <a:gridCol w="3749040"/>
                <a:gridCol w="3383280"/>
                <a:gridCol w="2423160"/>
              </a:tblGrid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work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Milestone/output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 -&gt; IPD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[Gap refinement, requirements, PoC]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[Working core proof-of-concept]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[Ethics/data access]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IPD -&gt; final build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[Full build/integration]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[Feature-complete artefact]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[Architecture choices]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Testing/evaluation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[Baseline tests, user/model evaluation]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[Evaluation dataset/results]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[Stable artefact]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Report/finalisation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[Analysis, limitations, report, demo]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[Final submission package]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[Results complete]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5321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A credible plan includes dependencies and fallback options, not only dates.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Risk, mitigation and contingency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4251960"/>
        </p:xfrm>
        <a:graphic>
          <a:graphicData uri="http://schemas.openxmlformats.org/drawingml/2006/table">
            <a:tbl>
              <a:tblPr/>
              <a:tblGrid>
                <a:gridCol w="2788920"/>
                <a:gridCol w="2148840"/>
                <a:gridCol w="3154680"/>
                <a:gridCol w="3108960"/>
              </a:tblGrid>
              <a:tr h="850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Likelihood / impact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Contingency / fallback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unavailable/weak]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[Verify early; identify alternatives]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[Synthetic/public/limited-scope evaluation]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[Model/engine underperforms]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[Baseline first; incremental PoC]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[Simpler method with stronger evaluation]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[Scope grows]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[MoSCoW; fixed exclusions]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[Core features only]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[Ethics/security issue]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[Early ethics and data controls]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[No personal data / sample data only]</a:t>
                      </a:r>
                      <a:endParaRPr lang="en-US" sz="10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7790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Include research risks, technical risks, data risks, schedule risks, responsible-practice risks and evaluation risks.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research and project considerations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4206240"/>
        </p:xfrm>
        <a:graphic>
          <a:graphicData uri="http://schemas.openxmlformats.org/drawingml/2006/table">
            <a:tbl>
              <a:tblPr/>
              <a:tblGrid>
                <a:gridCol w="2103120"/>
                <a:gridCol w="4434840"/>
                <a:gridCol w="466344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Project-specific issue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/ mitigation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Ethics and participants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[Consent, welfare, approval, no premature data collection]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[Ethics submission and approved protocol]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Legal/IP/data protection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[Licensing, privacy, retention, ownership]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minimisation and documented permissions]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and safety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[Misuse, sensitive data, false confidence]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[Access control, disclaimers, safety boundaries]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Accessibility / EDI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[Who may be excluded or disadvantaged?]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[Accessible UI and bias-aware evaluation]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Sustainability / professional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[Compute, honesty, public interest]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[Efficient design and transparent limitations]</a:t>
                      </a:r>
                      <a:endParaRPr lang="en-US" sz="10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715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4B59"/>
                </a:solidFill>
              </a:rPr>
              <a:t>Responsible considerations should change design, methodology or governance decisions. Avoid generic statements.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generalisation, limitations and closing defence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3429000" cy="1234440"/>
          </a:xfrm>
          <a:prstGeom prst="rect">
            <a:avLst/>
          </a:prstGeom>
          <a:solidFill>
            <a:srgbClr val="F6F2FA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25880"/>
            <a:ext cx="73152" cy="123444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435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Substantial SE 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801368"/>
            <a:ext cx="3154680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What makes the artefact technically and analytically challenging? What is the engineering depth?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325880"/>
            <a:ext cx="3429000" cy="1234440"/>
          </a:xfrm>
          <a:prstGeom prst="rect">
            <a:avLst/>
          </a:prstGeom>
          <a:solidFill>
            <a:srgbClr val="F8F7FB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325880"/>
            <a:ext cx="73152" cy="1234440"/>
          </a:xfrm>
          <a:prstGeom prst="rect">
            <a:avLst/>
          </a:prstGeom>
          <a:solidFill>
            <a:srgbClr val="007A78"/>
          </a:solidFill>
          <a:ln w="12700">
            <a:solidFill>
              <a:srgbClr val="007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435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Feasible boundaries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53712" y="1801368"/>
            <a:ext cx="3154680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What is included, excluded and prioritised? Why is this deliverable?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325880"/>
            <a:ext cx="3337560" cy="1234440"/>
          </a:xfrm>
          <a:prstGeom prst="rect">
            <a:avLst/>
          </a:prstGeom>
          <a:solidFill>
            <a:srgbClr val="F6F2FA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325880"/>
            <a:ext cx="73152" cy="123444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14356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Contribution and generalisation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02752" y="1801368"/>
            <a:ext cx="3063240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What can be learned beyond a single feature demo or dataset? What are the limitations?</a:t>
            </a:r>
            <a:endParaRPr lang="en-US" sz="11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71800"/>
          <a:ext cx="10835640" cy="2377440"/>
        </p:xfrm>
        <a:graphic>
          <a:graphicData uri="http://schemas.openxmlformats.org/drawingml/2006/table">
            <a:tbl>
              <a:tblPr/>
              <a:tblGrid>
                <a:gridCol w="3108960"/>
                <a:gridCol w="77266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Closing defence prompt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PP answer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project addresses...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[specific SE research problem/opportunity]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is needed because...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[evidence and gap]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proposed contribution is...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[artefact/method/framework/evaluation]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scope is credible because...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[boundaries, plan, risk controls]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practice and references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5303520" cy="1417320"/>
          </a:xfrm>
          <a:prstGeom prst="rect">
            <a:avLst/>
          </a:prstGeom>
          <a:solidFill>
            <a:srgbClr val="F6F2FA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25880"/>
            <a:ext cx="73152" cy="1417320"/>
          </a:xfrm>
          <a:prstGeom prst="rect">
            <a:avLst/>
          </a:prstGeom>
          <a:solidFill>
            <a:srgbClr val="6F2DA8"/>
          </a:solidFill>
          <a:ln w="12700">
            <a:solidFill>
              <a:srgbClr val="6F2D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435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Cite sources when presenting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801368"/>
            <a:ext cx="50292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Problem evidence, literature findings, existing-solution claims, datasets, methods, metrics, frameworks, technical documentation and professional/ethical guidance.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257800" cy="1417320"/>
          </a:xfrm>
          <a:prstGeom prst="rect">
            <a:avLst/>
          </a:prstGeom>
          <a:solidFill>
            <a:srgbClr val="F8F7FB"/>
          </a:solidFill>
          <a:ln w="7620">
            <a:solidFill>
              <a:srgbClr val="D9C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25880"/>
            <a:ext cx="73152" cy="1417320"/>
          </a:xfrm>
          <a:prstGeom prst="rect">
            <a:avLst/>
          </a:prstGeom>
          <a:solidFill>
            <a:srgbClr val="007A78"/>
          </a:solidFill>
          <a:ln w="12700">
            <a:solidFill>
              <a:srgbClr val="007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4356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9"/>
                </a:solidFill>
              </a:rPr>
              <a:t>Distinguish clearly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82512" y="1801368"/>
            <a:ext cx="498348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1F29"/>
                </a:solidFill>
              </a:rPr>
              <a:t>Existing evidence, AI-assisted content, third-party code/data/tools, and the student’s own analysis, design decisions and proposed contribution.</a:t>
            </a:r>
            <a:endParaRPr lang="en-US" sz="11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46120"/>
          <a:ext cx="10835640" cy="2240280"/>
        </p:xfrm>
        <a:graphic>
          <a:graphicData uri="http://schemas.openxmlformats.org/drawingml/2006/table">
            <a:tbl>
              <a:tblPr/>
              <a:tblGrid>
                <a:gridCol w="3931920"/>
                <a:gridCol w="6903720"/>
              </a:tblGrid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 list guidance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content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Harvard or required institutional style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key references actually cited]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official documentation for tools/APIs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not cite AI as academic evidence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verification note if needed]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Final Project | Project Proposal (PP)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B4B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/ Q&amp;A support slides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247120" cy="0"/>
          </a:xfrm>
          <a:prstGeom prst="line">
            <a:avLst/>
          </a:prstGeom>
          <a:noFill/>
          <a:ln w="15240">
            <a:solidFill>
              <a:srgbClr val="6F2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46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6SENG010C | Live Presentation Template 2026-2027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0" y="64465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B59"/>
                </a:solidFill>
              </a:rPr>
              <a:t>Research-oriented + Software Engineering-oriented</a:t>
            </a:r>
            <a:endParaRPr lang="en-US" sz="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466344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 evidence to prepare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 during questions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DA8"/>
                    </a:solidFill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Detailed literature/research gap matrix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Defend novelty and evidence base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 traceability matrix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source -&gt; requirement -&gt; test/evaluation link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 and preprocessing detail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Defend data strategy and validity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and metrics detail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Defend evaluation design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and threat model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Defend feasibility, security and responsible design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prompt/output verification notes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1F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Defend ownership and academic integrity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60807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4B59"/>
                </a:solidFill>
              </a:rPr>
              <a:t>Backup slides are not a substitute for a clear 20-minute presentation. Use them only when answering questions.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Informatics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6SENG010C SE PP Live Presentation Template 2026-2027 - Research and Software Engineering Oriented</dc:title>
  <dc:subject>6SENG010C Software Engineering Final Project Project Proposal</dc:subject>
  <dc:creator>Informatics Institute of Technology</dc:creator>
  <cp:lastModifiedBy>Informatics Institute of Technology</cp:lastModifiedBy>
  <cp:revision>1</cp:revision>
  <dcterms:created xsi:type="dcterms:W3CDTF">2026-09-21T23:37:45Z</dcterms:created>
  <dcterms:modified xsi:type="dcterms:W3CDTF">2026-09-21T23:37:45Z</dcterms:modified>
</cp:coreProperties>
</file>
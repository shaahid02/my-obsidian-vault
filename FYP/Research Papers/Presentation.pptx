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62" r:id="rId6"/>
    <p:sldId id="258" r:id="rId7"/>
    <p:sldId id="259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5" r:id="rId21"/>
  </p:sldIdLst>
  <p:sldSz cx="18288000" cy="10287000"/>
  <p:notesSz cx="6858000" cy="9144000"/>
  <p:embeddedFontLst>
    <p:embeddedFont>
      <p:font typeface="Canva Sans" panose="020B0604020202020204" charset="0"/>
      <p:regular r:id="rId22"/>
    </p:embeddedFont>
    <p:embeddedFont>
      <p:font typeface="Canva Sans Bold" panose="020B0604020202020204" charset="0"/>
      <p:regular r:id="rId23"/>
    </p:embeddedFont>
    <p:embeddedFont>
      <p:font typeface="TT Commons Pro Expanded" panose="020B0604020202020204" charset="0"/>
      <p:regular r:id="rId24"/>
    </p:embeddedFont>
    <p:embeddedFont>
      <p:font typeface="TT Commons Pro Expanded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531" autoAdjust="0"/>
  </p:normalViewPr>
  <p:slideViewPr>
    <p:cSldViewPr>
      <p:cViewPr varScale="1">
        <p:scale>
          <a:sx n="98" d="100"/>
          <a:sy n="98" d="100"/>
        </p:scale>
        <p:origin x="7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04:50:34.4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30 24575,'10'0'0,"7"0"0,10 0 0,5 0 0,7-5 0,1-1 0,3 0 0,-2 1 0,3 1 0,-2 2 0,0 1 0,-5 1-8191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04:50:43.2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26 24575,'23'-2'0,"1"0"0,26-6 0,28-4 0,45 10 0,166 19 0,-251-14 0,52 2-1365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04:51:04.9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41 24575,'267'-14'0,"9"0"0,-104 17 0,229-6 0,-325-3 0,-40 2 0,71 1 0,101 21-2,185 6-1361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04:51:46.9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0 107 24575,'36'-2'0,"55"-9"0,18-2 0,215 13 0,54-1 0,-345-3 0,0-1 0,43-13 0,-44 9 0,1 2 0,47-4 0,37 7 0,93-9 0,-127 7 0,0 4 0,-1 3 0,121 17 0,-41-11-1365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04:52:07.2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0 276 24575,'47'-11'0,"-9"1"0,9 6 0,71 4 0,-85 2 0,0-1 0,0-2 0,-1-2 0,1 0 0,37-11 0,-12-3 0,0 2 0,2 2 0,0 4 0,118-5 0,-149 14 0,1-1 0,0-2 0,0-1 0,49-13 0,-20 4 0,119-10 0,-81 14 0,-39 1 0,89-22 0,-72 12 0,1 3 0,0 4 0,1 3 0,1 3 0,115 8 0,-166-1 0,1 1 0,47 12 0,-66-13 0,-1 0 0,0 1 0,-1 0 0,1 0 0,0 1 0,-1 0 0,0 0 0,0 1 0,0 0 0,0 0 0,-1 1 0,0-1 0,7 10 0,-12-14 0,0 0 0,0 0 0,-1 0 0,1-1 0,0 1 0,-1 0 0,1 0 0,-1 0 0,1 0 0,-1 0 0,0 1 0,1-1 0,-1 0 0,0 0 0,0 0 0,0 0 0,0 0 0,0 0 0,0 0 0,0 1 0,0-1 0,0 0 0,0 0 0,-1 0 0,1 0 0,0 0 0,-1 0 0,0 1 0,0 0 0,-1-1 0,1 1 0,-1-1 0,0 0 0,1 0 0,-1 0 0,0 0 0,0 0 0,0 0 0,0 0 0,0 0 0,0-1 0,-4 1 0,-6 1 0,0 0 0,0-1 0,-1-1 0,-12-1 0,-132-25 0,107 15 0,-80-6 0,-360 14 0,242 6 0,128 1 0,105-2 0,0 0 0,0 0 0,1 2 0,-1 0 0,-24 10 0,38-14 0,1 0 0,-1 0 0,1 0 0,0 1 0,-1-1 0,1 0 0,-1 0 0,1 0 0,-1 0 0,1 1 0,0-1 0,-1 0 0,1 0 0,0 1 0,-1-1 0,1 0 0,0 0 0,-1 1 0,1-1 0,0 1 0,-1-1 0,1 0 0,0 1 0,0-1 0,0 0 0,-1 1 0,1-1 0,0 1 0,0-1 0,0 1 0,0-1 0,0 0 0,0 1 0,0 0 0,15 6 0,27-2 0,381-6 0,-178-25 0,-146 15 0,130-7 0,-190 17 0,-26-1 0,0 1 0,0 1 0,1 0 0,-1 1 0,0 1 0,0 0 0,0 0 0,0 1 0,19 8 0,-31-11 0,-1 0 0,1 0 0,-1 0 0,1 0 0,-1 0 0,1 0 0,-1 1 0,1-1 0,-1 0 0,1 0 0,-1 1 0,1-1 0,-1 0 0,1 0 0,-1 1 0,0-1 0,1 1 0,-1-1 0,0 0 0,1 1 0,-1-1 0,0 1 0,1-1 0,-1 1 0,0-1 0,0 1 0,0-1 0,1 1 0,-1-1 0,0 1 0,0-1 0,0 1 0,0-1 0,0 1 0,0-1 0,0 1 0,0-1 0,0 1 0,0 0 0,0-1 0,-1 1 0,1-1 0,0 1 0,0-1 0,0 1 0,-1-1 0,1 0 0,0 1 0,0-1 0,-1 1 0,1-1 0,-1 1 0,1-1 0,0 0 0,-1 1 0,1-1 0,-1 0 0,1 1 0,-1-1 0,1 0 0,0 0 0,-1 0 0,1 1 0,-1-1 0,0 0 0,1 0 0,-1 0 0,0 0 0,-41 12 0,39-12 0,-100 24 0,63-13 0,-1-2 0,-71 6 0,-186-12 0,-127 9 0,54-1-525,316-11-315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04:52:20.2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1 191 24575,'2'2'0,"-1"1"0,1-1 0,0 0 0,1 1 0,-1-1 0,0 0 0,1 0 0,-1 0 0,1-1 0,-1 1 0,1-1 0,0 1 0,0-1 0,0 0 0,-1 0 0,1 0 0,0 0 0,0-1 0,1 1 0,2-1 0,70 1 0,-57-1 0,14-2 0,1-1 0,-1-1 0,0-2 0,39-11 0,-11 2 0,99-9 0,-6 1 0,-25-9 0,-86 19 0,1 3 0,1 1 0,64-4 0,-70 10 0,0-2 0,50-14 0,-48 10 0,76-8 0,296 18 0,-327 8 0,0 3 0,154 43 0,-227-51 0,14 4 0,1-1 0,-1-1 0,1-1 0,49 2 0,-81-8 0,0 0 0,1 1 0,0-1 0,-1 1 0,1 0 0,0 1 0,0-1 0,-1 0 0,1 1 0,0 0 0,0 0 0,0 0 0,-6 2 0,-14 3 0,-1 0 0,0-2 0,0-1 0,-27 1 0,-105-6 0,69-1 0,-140 5 0,-160-5 0,360 0 0,0-2 0,-48-13 0,45 10 0,-54-8 0,4 9 0,35 4 0,0-2 0,0-2 0,-60-16 0,81 16 0,-2 2 0,1 0 0,-1 2 0,-46-1 0,-106 13 0,151-7 0,20-1 0,0 0 0,1 0 0,-1 0 0,1 1 0,-13 5 0,19-7 0,-1 1 0,0-1 0,0 1 0,0-1 0,0 1 0,1-1 0,-1 1 0,0-1 0,1 1 0,-1 0 0,0-1 0,1 1 0,-1 0 0,1 0 0,-1-1 0,1 1 0,-1 0 0,1 0 0,-1 2 0,1-2 0,0 0 0,0 0 0,1 0 0,-1 0 0,0 0 0,1 0 0,-1 0 0,1 0 0,-1 0 0,1 0 0,0 0 0,-1 0 0,1 0 0,0 0 0,-1 0 0,1 0 0,0-1 0,0 1 0,0 0 0,0-1 0,1 2 0,6 3 0,1-1 0,-1 0 0,0 0 0,1-1 0,0 0 0,0 0 0,0-1 0,0 0 0,14 1 0,91 1 0,-89-5 0,117 2 0,214-6 0,-291-5 0,-65 10 0,-1 0 0,1 0 0,0 0 0,0-1 0,0 1 0,0 0 0,-1 0 0,1 0 0,0 0 0,0-1 0,0 1 0,0 0 0,0 0 0,0 0 0,0-1 0,0 1 0,-1 0 0,1 0 0,0 0 0,0-1 0,0 1 0,0 0 0,0 0 0,0-1 0,0 1 0,0 0 0,0 0 0,1 0 0,-1-1 0,0 1 0,0 0 0,0 0 0,0-1 0,0 1 0,0 0 0,0 0 0,0 0 0,0 0 0,1-1 0,-1 1 0,0 0 0,0 0 0,0 0 0,0 0 0,1 0 0,-1-1 0,0 1 0,0 0 0,0 0 0,1 0 0,-1 0 0,0 0 0,0 0 0,0 0 0,1 0 0,-24-5 0,20 4 0,-12-1 0,5 1 0,-1-1 0,1 0 0,-1-1 0,-17-7 0,29 7 0,10-1 0,14 1 0,239 2 0,-149 2 0,-158 19 0,26-10 0,-17 6 0,-13 8 0,-85 29 0,-35 3-1365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04:52:34.6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1 144 24575,'5'-9'0,"1"0"0,1 1 0,-1 0 0,1 0 0,1 0 0,-1 1 0,1 0 0,1 1 0,-1 0 0,12-6 0,-1-1 0,-18 11 0,-7 4 0,-19 10 0,19-9 0,-1 0 0,1 1 0,-1 0 0,1 1 0,0-1 0,-9 11 0,14-15 0,1 1 0,0-1 0,0 0 0,-1 0 0,1 1 0,0-1 0,0 0 0,-1 1 0,1-1 0,0 0 0,0 1 0,0-1 0,0 0 0,-1 1 0,1-1 0,0 0 0,0 1 0,0-1 0,0 1 0,0-1 0,0 0 0,0 1 0,0-1 0,0 1 0,0-1 0,0 0 0,0 1 0,1-1 0,-1 0 0,0 1 0,0-1 0,0 0 0,0 1 0,1-1 0,-1 0 0,0 1 0,0-1 0,1 0 0,-1 1 0,20 2 0,29-9 0,-45 5 0,438-43 0,-414 41 0,0-1 0,44-14 0,-41 10 0,53-8 0,-53 13 0,0 1 0,58 3 0,-89-1 0,0 0 0,0 0 0,1 0 0,-1-1 0,0 1 0,0 0 0,1 0 0,-1 0 0,0 0 0,0 0 0,1 0 0,-1 0 0,0 0 0,0 0 0,1 0 0,-1 0 0,0 0 0,0 0 0,1 0 0,-1 0 0,0 1 0,1-1 0,-1 0 0,0 0 0,0 0 0,0 0 0,1 0 0,-1 1 0,0-1 0,0 0 0,0 0 0,1 0 0,-1 0 0,0 1 0,0-1 0,0 0 0,0 0 0,1 1 0,-1-1 0,0 0 0,0 0 0,0 1 0,0-1 0,0 0 0,0 0 0,0 1 0,-14 6 0,-27 2 0,39-8 0,-33 4 0,1-2 0,-1-1 0,0-1 0,-43-6 0,78 5 0,0 0 0,-1 0 0,1 0 0,0 0 0,0 0 0,-1 0 0,1 0 0,0 0 0,-1 0 0,1 0 0,0 0 0,0 0 0,-1 0 0,1 0 0,0-1 0,0 1 0,-1 0 0,1 0 0,0 0 0,0 0 0,0 0 0,-1-1 0,1 1 0,0 0 0,0 0 0,0 0 0,0-1 0,-1 1 0,1 0 0,0 0 0,0-1 0,0 1 0,0 0 0,0 0 0,0-1 0,0 1 0,0 0 0,0 0 0,0-1 0,0 1 0,0 0 0,0-1 0,0 1 0,0 0 0,0 0 0,0-1 0,0 1 0,0 0 0,0 0 0,0-1 0,0 1 0,0 0 0,1 0 0,-1-1 0,0 1 0,0 0 0,0 0 0,0 0 0,1-1 0,-1 1 0,17-15 0,-10 8 0,-32 16 0,-148 77 0,334-91 0,-143 4-116,-3 0-196,-1 1-1,1 0 1,28 5 0,-23 0-6514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04:52:40.1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418 128 24575,'0'-5'0,"1"0"0,1 0 0,-1 0 0,1 0 0,0 1 0,0-1 0,0 1 0,0-1 0,1 1 0,0 0 0,0 0 0,0 0 0,1 0 0,-1 0 0,1 1 0,0 0 0,0 0 0,7-5 0,-3 2 0,1 0 0,0 1 0,0 0 0,1 1 0,-1 0 0,1 0 0,0 1 0,11-2 0,-21 5 0,0-1 0,1 1 0,-1 0 0,0 0 0,1 0 0,-1 0 0,0 0 0,1-1 0,-1 1 0,0 0 0,1 0 0,-1 0 0,1 0 0,-1 0 0,0 0 0,1 0 0,-1 0 0,0 0 0,1 0 0,-1 1 0,1-1 0,-1 0 0,0 0 0,1 0 0,-1 0 0,0 0 0,1 1 0,-1-1 0,0 0 0,0 0 0,1 1 0,-1-1 0,0 0 0,1 0 0,-1 1 0,0-1 0,0 1 0,-10 11 0,-24 10 0,1-9 0,-1-1 0,0-1 0,-1-2 0,-61 7 0,168-19 0,72-4 0,-32-11 0,-186 18 0,-310-15 0,247 4-1365,100 10-5461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04:53:27.0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81 24575,'7'5'0,"-1"-1"0,1 0 0,0 0 0,0-1 0,0 0 0,1-1 0,-1 1 0,1-1 0,10 1 0,12 5 0,12 4 0,1-2 0,0-2 0,0-2 0,1-2 0,0-1 0,52-5 0,-9-5 0,0-5 0,95-24 0,-101 22 0,1 5 0,1 2 0,141 8 0,-100 1 0,105 15 0,-89-4 0,-82-6 0,103 25 0,-105-18 0,113 13 0,-149-26 0,8 2 0,0-2 0,54-5 0,-77 4 0,0-1 0,1 0 0,-1 0 0,-1 0 0,1 0 0,0-1 0,0 1 0,0-1 0,-1-1 0,1 1 0,-1-1 0,0 1 0,1-1 0,-1 0 0,-1-1 0,1 1 0,0-1 0,-1 0 0,0 1 0,0-2 0,0 1 0,4-8 0,-6 10 0,0 1 0,-1-1 0,1 0 0,-1 1 0,1-1 0,-1 0 0,0 1 0,0-1 0,1 0 0,-1 0 0,0 1 0,-1-1 0,1 0 0,0 0 0,-1 1 0,1-1 0,0 0 0,-1 1 0,0-1 0,1 1 0,-1-1 0,0 1 0,0-1 0,-2-2 0,0 2 0,0-1 0,0 1 0,0-1 0,0 1 0,0 0 0,-1 0 0,1 1 0,-1-1 0,0 1 0,-6-2 0,-8-1 0,-1 1 0,0 1 0,-27-1 0,45 3 0,-65 2 0,-89 14 0,-46 1 0,-318-40 0,390 17 0,83 5 0,0-1 0,1-2 0,-72-17 0,78 13 0,-1 1 0,0 1 0,0 3 0,0 1 0,0 2 0,0 2 0,0 2 0,0 1 0,0 2 0,1 2 0,0 1 0,-44 19 0,32-13 0,-58 11 0,104-27 0,11-2 0,21-12 0,-27 14 0,0 0 0,1 0 0,-1 0 0,0 0 0,1 0 0,-1-1 0,0 1 0,1 0 0,-1 0 0,0 0 0,0-1 0,1 1 0,-1 0 0,0 0 0,0-1 0,1 1 0,-1 0 0,0 0 0,0-1 0,0 1 0,0 0 0,0-1 0,1 1 0,-1 0 0,0-1 0,0 1 0,0 0 0,0-1 0,0 1 0,0 0 0,0-1 0,0 1 0,0 0 0,0-1 0,0 1 0,0 0 0,0-1 0,-1 1 0,1 0 0,0-1 0,0 1 0,0 0 0,0-1 0,0 1 0,-1 0 0,1-1 0,0 1 0,0 0 0,-1 0 0,1-1 0,0 1 0,0 0 0,-1 0 0,1 0 0,0 0 0,-1-1 0,1 1 0,0 0 0,-1 0 0,1 0 0,0 0 0,-1 0 0,1 0 0,0 0 0,-1 0 0,1 0 0,-1 0 0,-141-48 0,140 47 0,0 0 0,0 1 0,0-1 0,0 1 0,0 0 0,0 0 0,0 0 0,-1 0 0,1 0 0,0 0 0,0 0 0,0 1 0,0-1 0,0 1 0,0-1 0,0 1 0,0 0 0,0 0 0,0 0 0,0 0 0,1 0 0,-1 0 0,0 1 0,1-1 0,-1 0 0,1 1 0,-1-1 0,1 1 0,-1 0 0,1 0 0,0-1 0,0 1 0,0 0 0,0 0 0,0 0 0,1 0 0,-1 0 0,1 0 0,-1 0 0,1 0 0,0 0 0,-1 4 0,0 7 0,0 0 0,1 0 0,1 0 0,0 0 0,5 21 0,-6-30 0,1 0 0,1 0 0,-1 0 0,0 0 0,1-1 0,0 1 0,0 0 0,0-1 0,0 0 0,1 1 0,-2-2 0</inkml:trace>
  <inkml:trace contextRef="#ctx0" brushRef="#br0" timeOffset="1">1068 246 24575,'7'-5'0,"39"-37"0,-44 40 0,-1 1 0,1 0 0,-1-1 0,1 0 0,-1 1 0,0-1 0,1 0 0,-1 0 0,0 0 0,0 1 0,0-1 0,-1 0 0,1-1 0,0 1 0,-1 0 0,1 0 0,-1 0 0,0 0 0,1 0 0,-1 0 0,-1-5 0,0 5 0,-1 0 0,0 0 0,0 1 0,0-1 0,0 1 0,0-1 0,0 1 0,0-1 0,0 1 0,0 0 0,-1 0 0,1 0 0,-1 0 0,1 1 0,0-1 0,-1 1 0,1-1 0,-1 1 0,1 0 0,-4 0 0,-55 0 0,59 0 0,-38 5 0,-1 1 0,-52 16 0,-21 3 0,347-23 0,1002-2 0,-1220 0 0,-1 0 0,1-1 0,25-6 0,-37 7 0,-1-1 0,1 1 0,0-1 0,-1 0 0,1 0 0,0 0 0,-1 0 0,1-1 0,-1 1 0,0-1 0,1 1 0,-1-1 0,0 0 0,0 0 0,0 0 0,0 0 0,0 0 0,-1 0 0,1-1 0,-1 1 0,1 0 0,-1-1 0,0 1 0,0-1 0,0 0 0,1-4 0,-2 6 0,0 0 0,-1-1 0,1 1 0,0 0 0,-1 0 0,1-1 0,0 1 0,-1 0 0,0 0 0,1 0 0,-1 0 0,0 0 0,0 0 0,1 0 0,-1 0 0,0 0 0,0 0 0,0 0 0,0 0 0,0 0 0,0 1 0,0-1 0,-1 0 0,1 1 0,0-1 0,0 1 0,0 0 0,-1-1 0,1 1 0,0 0 0,-1 0 0,1-1 0,0 1 0,0 0 0,-1 0 0,1 1 0,-2-1 0,-51 3 0,-203 63-1365,220-57-5461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04:53:55.9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 60 24575,'-1'25'0,"-1"0"0,-2 0 0,-1-1 0,-10 34 0,14-56 0,1 0 0,-1 1 0,0-1 0,1 1 0,0-1 0,-1 1 0,1-1 0,0 1 0,0-1 0,0 1 0,1-1 0,-1 0 0,1 1 0,-1-1 0,2 4 0,-1-6 0,0 1 0,0 0 0,0-1 0,0 1 0,0 0 0,0-1 0,0 1 0,0-1 0,0 0 0,0 1 0,0-1 0,0 0 0,0 0 0,1 0 0,-1 0 0,0 1 0,0-2 0,0 1 0,0 0 0,0 0 0,1 0 0,-1 0 0,0-1 0,0 1 0,0-1 0,0 1 0,0 0 0,0-1 0,0 0 0,0 1 0,0-1 0,0 0 0,1-1 0,21-13 0,-1 0 0,-1-2 0,34-34 0,9-8 0,-38 32 0,-18 17 0,-18 15 0,-45 46 0,45-40 0,0-1 0,-1 0 0,0 0 0,0-1 0,-1-1 0,-25 14 0,36-22 0,0 1 0,0-1 0,0 0 0,0 0 0,0 0 0,0 1 0,0-1 0,0 0 0,0 0 0,0-1 0,0 1 0,0 0 0,0 0 0,1 0 0,-1-1 0,0 1 0,0 0 0,0-1 0,0 1 0,0-1 0,0 1 0,0-1 0,1 1 0,-1-1 0,0 0 0,0 1 0,1-1 0,-1 0 0,1 0 0,-1 1 0,0-1 0,1 0 0,0 0 0,-1 0 0,1 0 0,-1 0 0,1 0 0,0 0 0,0 0 0,-1 0 0,1 0 0,0 0 0,0-1 0,0 1 0,0-1 0,0 1 0,0 0 0,0 0 0,0 0 0,0 0 0,0 0 0,0-1 0,1 1 0,-1 0 0,0 0 0,1 0 0,-1 0 0,1 0 0,-1 0 0,1 0 0,-1 0 0,1 0 0,0 0 0,0 0 0,-1 0 0,1 0 0,0 1 0,0-1 0,0 0 0,0 1 0,0-1 0,0 0 0,0 1 0,0-1 0,0 1 0,0 0 0,0-1 0,0 1 0,0 0 0,1 0 0,-1-1 0,0 1 0,0 0 0,2 0 0,6 1 0,0 0 0,0 1 0,0 0 0,0 0 0,-1 1 0,1 0 0,-1 0 0,1 1 0,-1 0 0,11 8 0,-45-17 0,20 2 0,0-1 0,0 0 0,0 0 0,0 0 0,1-1 0,0 1 0,0-1 0,0-1 0,1 1 0,-1-1 0,-6-11 0,1-3 0,0-1 0,-9-28 0,12 29 0,8 42 0,-2 0 0,-4 33 0,3-42 0,-1-1 0,-1 0 0,0 0 0,-8 16 0,7-19 0,1 0 0,1 1 0,-1-1 0,1 1 0,1 0 0,-2 13 0,4-22 0,0 0 0,0 1 0,0-1 0,0 0 0,0 0 0,1 0 0,-1 1 0,0-1 0,1 0 0,-1 0 0,1 0 0,-1 0 0,1 0 0,-1 0 0,1 0 0,0 0 0,-1 0 0,1 0 0,0 0 0,0 0 0,0-1 0,0 1 0,0 0 0,1 0 0,1 1 0,0-1 0,1 0 0,-1 0 0,0 0 0,0 0 0,1 0 0,-1-1 0,7 1 0,5-2 0,0 0 0,28-5 0,-41 6 0,82-17-1365,-45 10-5461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5T14:11:30.9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5T14:11:34.8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390 2 24575,'5'5'0,"0"-1"0,1 0 0,-1-1 0,1 0 0,0 1 0,0-2 0,0 1 0,0-1 0,0 0 0,1 0 0,6 1 0,78 7 0,-69-9 0,585 7 0,-349-11 0,-160-1 0,100-18 0,51-4 0,-127 23 0,-105 8 0,-24 5 0,-36 15 0,35-21 0,-16 9 0,-1-1 0,0-2 0,0 0 0,-1-2 0,0-1 0,-1 0 0,1-3 0,-1 0 0,-44 0 0,-379-11 0,123-1 0,121 6 0,-285 6 0,446-1-341,0 2 0,0 3-1,-51 14 1,32-2-6485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5T14:11:42.7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24575,'1413'0'-1365,"-1348"0"-5461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5T14:10:32.7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1919 0 23778,'-1919'0'0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05:01:24.3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1 174 24575,'38'1'0,"52"11"0,13 0 0,263-8 0,-216-6 0,-107 1 0,43-9 0,-58 6 0,0 0 0,0 2 0,0 1 0,0 2 0,31 4 0,15 10 0,55 9 0,-117-22 0,0-2 0,0 1 0,0-1 0,1-1 0,-1-1 0,0 1 0,0-2 0,14-4 0,-24 7 0,0-1 0,1 0 0,-1 1 0,0-1 0,0 0 0,0-1 0,0 1 0,0 0 0,0 0 0,0-1 0,0 1 0,0-1 0,0 0 0,-1 0 0,1 1 0,-1-1 0,0 0 0,1 0 0,-1 0 0,0-1 0,0 1 0,0 0 0,0 0 0,-1-1 0,1 1 0,0 0 0,-1-1 0,0 1 0,0 0 0,1-1 0,-1 1 0,-1-1 0,1 1 0,0 0 0,-1-1 0,1 1 0,-1 0 0,0-1 0,1 1 0,-1 0 0,0 0 0,0 0 0,-1 0 0,1 0 0,-2-2 0,-2-5 0,-1 0 0,0 1 0,-1 0 0,0 0 0,0 1 0,0 0 0,-1 0 0,0 1 0,-13-8 0,6 7 0,0 0 0,-1 1 0,1 1 0,-1 0 0,0 2 0,-1 0 0,1 0 0,-18 0 0,-140 7 0,77 1 0,-132-6 0,-115 3 0,304 2-1365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5T14:17:46.0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60 24575,'2'-4'0,"1"0"0,-1 1 0,1 0 0,0 0 0,0 0 0,0 0 0,0 0 0,1 1 0,-1-1 0,1 1 0,0 0 0,-1 0 0,1 0 0,0 1 0,0-1 0,0 1 0,0 0 0,7-1 0,10-2 0,0 2 0,30-1 0,-38 3 0,404 1 0,65-2 0,-443-3-1365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5T14:18:18.0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3 105 24575,'0'-1'0,"-1"0"0,1 0 0,-1-1 0,1 1 0,0 0 0,0 0 0,-1-1 0,1 1 0,0 0 0,0 0 0,0-1 0,0 1 0,1 0 0,-1 0 0,0-1 0,0 1 0,1 0 0,-1 0 0,1 0 0,-1 0 0,1-1 0,-1 1 0,1 0 0,0 0 0,0 0 0,-1 0 0,1 0 0,0 0 0,0 1 0,0-1 0,0 0 0,0 0 0,0 1 0,0-1 0,2 0 0,50-22 0,-37 17 0,5-1 0,1 0 0,0 1 0,0 2 0,1 0 0,-1 1 0,28 1 0,141 12 0,-28 1 0,280-32 0,-403 17-1365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2.xml"/><Relationship Id="rId18" Type="http://schemas.openxmlformats.org/officeDocument/2006/relationships/image" Target="../media/image20.png"/><Relationship Id="rId26" Type="http://schemas.openxmlformats.org/officeDocument/2006/relationships/image" Target="../media/image24.png"/><Relationship Id="rId3" Type="http://schemas.openxmlformats.org/officeDocument/2006/relationships/image" Target="../media/image8.png"/><Relationship Id="rId21" Type="http://schemas.openxmlformats.org/officeDocument/2006/relationships/customXml" Target="../ink/ink6.xml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customXml" Target="../ink/ink4.xml"/><Relationship Id="rId25" Type="http://schemas.openxmlformats.org/officeDocument/2006/relationships/customXml" Target="../ink/ink8.xml"/><Relationship Id="rId2" Type="http://schemas.openxmlformats.org/officeDocument/2006/relationships/image" Target="../media/image1.png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29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customXml" Target="../ink/ink1.xml"/><Relationship Id="rId24" Type="http://schemas.openxmlformats.org/officeDocument/2006/relationships/image" Target="../media/image23.png"/><Relationship Id="rId5" Type="http://schemas.openxmlformats.org/officeDocument/2006/relationships/image" Target="../media/image10.png"/><Relationship Id="rId15" Type="http://schemas.openxmlformats.org/officeDocument/2006/relationships/customXml" Target="../ink/ink3.xml"/><Relationship Id="rId23" Type="http://schemas.openxmlformats.org/officeDocument/2006/relationships/customXml" Target="../ink/ink7.xml"/><Relationship Id="rId28" Type="http://schemas.openxmlformats.org/officeDocument/2006/relationships/image" Target="../media/image25.png"/><Relationship Id="rId10" Type="http://schemas.openxmlformats.org/officeDocument/2006/relationships/image" Target="../media/image15.png"/><Relationship Id="rId19" Type="http://schemas.openxmlformats.org/officeDocument/2006/relationships/customXml" Target="../ink/ink5.xml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8.png"/><Relationship Id="rId22" Type="http://schemas.openxmlformats.org/officeDocument/2006/relationships/image" Target="../media/image22.png"/><Relationship Id="rId27" Type="http://schemas.openxmlformats.org/officeDocument/2006/relationships/customXml" Target="../ink/ink9.xml"/><Relationship Id="rId30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.xml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openxmlformats.org/officeDocument/2006/relationships/customXml" Target="../ink/ink13.xml"/><Relationship Id="rId4" Type="http://schemas.openxmlformats.org/officeDocument/2006/relationships/image" Target="../media/image30.pn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image" Target="../media/image370.png"/><Relationship Id="rId7" Type="http://schemas.openxmlformats.org/officeDocument/2006/relationships/image" Target="../media/image41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3.png"/><Relationship Id="rId5" Type="http://schemas.openxmlformats.org/officeDocument/2006/relationships/image" Target="../media/image2.png"/><Relationship Id="rId10" Type="http://schemas.openxmlformats.org/officeDocument/2006/relationships/customXml" Target="../ink/ink17.xml"/><Relationship Id="rId4" Type="http://schemas.openxmlformats.org/officeDocument/2006/relationships/image" Target="../media/image1.png"/><Relationship Id="rId9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16472">
            <a:off x="12189616" y="3654694"/>
            <a:ext cx="8142234" cy="9884351"/>
          </a:xfrm>
          <a:custGeom>
            <a:avLst/>
            <a:gdLst/>
            <a:ahLst/>
            <a:cxnLst/>
            <a:rect l="l" t="t" r="r" b="b"/>
            <a:pathLst>
              <a:path w="8142234" h="9884351">
                <a:moveTo>
                  <a:pt x="0" y="0"/>
                </a:moveTo>
                <a:lnTo>
                  <a:pt x="8142234" y="0"/>
                </a:lnTo>
                <a:lnTo>
                  <a:pt x="8142234" y="9884351"/>
                </a:lnTo>
                <a:lnTo>
                  <a:pt x="0" y="9884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819234">
            <a:off x="-4462094" y="-4351871"/>
            <a:ext cx="12414120" cy="14187565"/>
          </a:xfrm>
          <a:custGeom>
            <a:avLst/>
            <a:gdLst/>
            <a:ahLst/>
            <a:cxnLst/>
            <a:rect l="l" t="t" r="r" b="b"/>
            <a:pathLst>
              <a:path w="12414120" h="14187565">
                <a:moveTo>
                  <a:pt x="0" y="0"/>
                </a:moveTo>
                <a:lnTo>
                  <a:pt x="12414119" y="0"/>
                </a:lnTo>
                <a:lnTo>
                  <a:pt x="12414119" y="14187565"/>
                </a:lnTo>
                <a:lnTo>
                  <a:pt x="0" y="14187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905112"/>
            <a:ext cx="16230600" cy="200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sz="3200" b="1" dirty="0">
                <a:solidFill>
                  <a:srgbClr val="000000"/>
                </a:solidFill>
                <a:latin typeface="TT Commons Pro Expanded Bold" panose="020B0604020202020204" charset="0"/>
              </a:rPr>
              <a:t>UNLOCKING THE COLOMBO STOCK EXCHANGE: LEVERAGING SENTIMENT ANALYSIS, TECHNICAL INDICATORS, AND BEHAVIORAL ECONOMICS IN COMPUTERIZED TRADING</a:t>
            </a:r>
          </a:p>
        </p:txBody>
      </p:sp>
      <p:sp>
        <p:nvSpPr>
          <p:cNvPr id="7" name="AutoShape 7"/>
          <p:cNvSpPr/>
          <p:nvPr/>
        </p:nvSpPr>
        <p:spPr>
          <a:xfrm>
            <a:off x="1044421" y="8487428"/>
            <a:ext cx="1619915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172611" y="2055636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 panose="020B0604020202020204" charset="0"/>
              </a:rPr>
              <a:t>SUBMISSION ID: 105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8E31D56-0FA2-EC8C-53B1-EC9D046D19A5}"/>
              </a:ext>
            </a:extLst>
          </p:cNvPr>
          <p:cNvSpPr txBox="1"/>
          <p:nvPr/>
        </p:nvSpPr>
        <p:spPr>
          <a:xfrm>
            <a:off x="1012979" y="5303103"/>
            <a:ext cx="162306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800" b="1" i="0" u="sng" strike="noStrike" baseline="0" dirty="0">
                <a:latin typeface="TT Commons Pro Expanded" panose="020B0604020202020204" charset="0"/>
              </a:rPr>
              <a:t>Senarathna B. S</a:t>
            </a:r>
            <a:r>
              <a:rPr lang="en-US" b="1" i="0" u="sng" strike="noStrike" baseline="0" dirty="0">
                <a:latin typeface="TT Commons Pro Expanded" panose="020B0604020202020204" charset="0"/>
              </a:rPr>
              <a:t>.</a:t>
            </a:r>
            <a:r>
              <a:rPr lang="en-US" b="1" i="0" u="sng" strike="noStrike" baseline="30000" dirty="0">
                <a:latin typeface="TT Commons Pro Expanded" panose="020B0604020202020204" charset="0"/>
              </a:rPr>
              <a:t>1</a:t>
            </a:r>
            <a:r>
              <a:rPr lang="en-US" b="1" i="0" u="sng" strike="noStrike" baseline="0" dirty="0">
                <a:latin typeface="TT Commons Pro Expanded" panose="020B0604020202020204" charset="0"/>
              </a:rPr>
              <a:t>*</a:t>
            </a:r>
            <a:r>
              <a:rPr lang="en-US" b="1" i="0" u="none" strike="noStrike" baseline="0" dirty="0">
                <a:latin typeface="TT Commons Pro Expanded" panose="020B0604020202020204" charset="0"/>
              </a:rPr>
              <a:t>,</a:t>
            </a:r>
            <a:r>
              <a:rPr lang="en-US" sz="1800" b="1" i="0" u="none" strike="noStrike" baseline="0" dirty="0">
                <a:latin typeface="TT Commons Pro Expanded" panose="020B0604020202020204" charset="0"/>
              </a:rPr>
              <a:t> Abeynayake A. D. L</a:t>
            </a:r>
            <a:r>
              <a:rPr lang="en-US" sz="1800" b="1" i="0" u="none" strike="noStrike" dirty="0">
                <a:latin typeface="TT Commons Pro Expanded" panose="020B0604020202020204" charset="0"/>
              </a:rPr>
              <a:t>.</a:t>
            </a:r>
            <a:r>
              <a:rPr lang="en-US" sz="1800" b="1" i="0" u="none" strike="noStrike" baseline="30000" dirty="0">
                <a:latin typeface="TT Commons Pro Expanded" panose="020B0604020202020204" charset="0"/>
              </a:rPr>
              <a:t>2</a:t>
            </a:r>
            <a:r>
              <a:rPr lang="en-US" sz="1800" b="1" i="0" u="none" strike="noStrike" dirty="0">
                <a:latin typeface="TT Commons Pro Expanded" panose="020B0604020202020204" charset="0"/>
              </a:rPr>
              <a:t>,</a:t>
            </a:r>
            <a:r>
              <a:rPr lang="en-US" sz="1800" b="1" i="0" u="none" strike="noStrike" baseline="0" dirty="0">
                <a:latin typeface="TT Commons Pro Expanded" panose="020B0604020202020204" charset="0"/>
              </a:rPr>
              <a:t> and </a:t>
            </a:r>
            <a:r>
              <a:rPr lang="en-US" sz="1800" b="1" i="0" u="none" strike="noStrike" baseline="0" dirty="0" err="1">
                <a:latin typeface="TT Commons Pro Expanded" panose="020B0604020202020204" charset="0"/>
              </a:rPr>
              <a:t>Deshani</a:t>
            </a:r>
            <a:r>
              <a:rPr lang="en-US" sz="1800" b="1" i="0" u="none" strike="noStrike" baseline="0" dirty="0">
                <a:latin typeface="TT Commons Pro Expanded" panose="020B0604020202020204" charset="0"/>
              </a:rPr>
              <a:t> K. A. D.</a:t>
            </a:r>
            <a:r>
              <a:rPr lang="en-US" sz="1800" b="1" i="0" u="none" strike="noStrike" baseline="30000" dirty="0">
                <a:latin typeface="TT Commons Pro Expanded" panose="020B0604020202020204" charset="0"/>
              </a:rPr>
              <a:t>3</a:t>
            </a:r>
          </a:p>
          <a:p>
            <a:pPr algn="ctr"/>
            <a:endParaRPr lang="en-US" sz="1800" b="1" i="0" u="none" strike="noStrike" baseline="0" dirty="0">
              <a:latin typeface="TT Commons Pro Expanded" panose="020B0604020202020204" charset="0"/>
            </a:endParaRPr>
          </a:p>
          <a:p>
            <a:pPr algn="ctr"/>
            <a:r>
              <a:rPr lang="en-US" sz="1800" b="1" i="0" u="none" strike="noStrike" baseline="30000" dirty="0">
                <a:latin typeface="TT Commons Pro Expanded" panose="020B0604020202020204" charset="0"/>
              </a:rPr>
              <a:t>1,3</a:t>
            </a:r>
            <a:r>
              <a:rPr lang="en-US" sz="1800" b="1" i="0" u="none" strike="noStrike" baseline="0" dirty="0">
                <a:latin typeface="TT Commons Pro Expanded" panose="020B0604020202020204" charset="0"/>
              </a:rPr>
              <a:t>Department of Statistics, University of Colombo, Sri Lanka, </a:t>
            </a:r>
            <a:r>
              <a:rPr lang="en-US" sz="1800" b="1" i="0" u="none" strike="noStrike" baseline="30000" dirty="0">
                <a:latin typeface="TT Commons Pro Expanded" panose="020B0604020202020204" charset="0"/>
              </a:rPr>
              <a:t>2</a:t>
            </a:r>
            <a:r>
              <a:rPr lang="en-US" sz="1800" b="1" i="0" u="none" strike="noStrike" baseline="0" dirty="0">
                <a:latin typeface="TT Commons Pro Expanded" panose="020B0604020202020204" charset="0"/>
              </a:rPr>
              <a:t>Acuity Knowledge Partners, Sri Lanka</a:t>
            </a:r>
            <a:endParaRPr lang="en-US" sz="3200" b="1" dirty="0">
              <a:solidFill>
                <a:srgbClr val="000000"/>
              </a:solidFill>
              <a:latin typeface="TT Commons Pro Expanded" panose="020B0604020202020204" charset="0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AC307C30-73D2-2F21-AF87-C4A18A534FEE}"/>
              </a:ext>
            </a:extLst>
          </p:cNvPr>
          <p:cNvSpPr txBox="1"/>
          <p:nvPr/>
        </p:nvSpPr>
        <p:spPr>
          <a:xfrm>
            <a:off x="6138198" y="694817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dirty="0">
                <a:solidFill>
                  <a:srgbClr val="000000"/>
                </a:solidFill>
                <a:latin typeface="TT Commons Pro Expanded" panose="020B0604020202020204" charset="0"/>
              </a:rPr>
              <a:t>Presented by: Buddhima S. Senarathna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258874">
            <a:off x="6303824" y="-6408408"/>
            <a:ext cx="14458560" cy="16524069"/>
          </a:xfrm>
          <a:custGeom>
            <a:avLst/>
            <a:gdLst/>
            <a:ahLst/>
            <a:cxnLst/>
            <a:rect l="l" t="t" r="r" b="b"/>
            <a:pathLst>
              <a:path w="14458560" h="16524069">
                <a:moveTo>
                  <a:pt x="0" y="0"/>
                </a:moveTo>
                <a:lnTo>
                  <a:pt x="14458560" y="0"/>
                </a:lnTo>
                <a:lnTo>
                  <a:pt x="14458560" y="16524069"/>
                </a:lnTo>
                <a:lnTo>
                  <a:pt x="0" y="16524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8501547" y="4876291"/>
            <a:ext cx="346010" cy="34601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4311077" y="4876291"/>
            <a:ext cx="346010" cy="34601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4311077" y="6101269"/>
            <a:ext cx="346010" cy="34601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8501547" y="6101269"/>
            <a:ext cx="346010" cy="34601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400000">
            <a:off x="12692016" y="6101269"/>
            <a:ext cx="346010" cy="34601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5400000">
            <a:off x="16820320" y="6101269"/>
            <a:ext cx="346010" cy="34601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4311077" y="7301418"/>
            <a:ext cx="346010" cy="34601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5400000">
            <a:off x="8453000" y="7230679"/>
            <a:ext cx="394556" cy="394556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5400000">
            <a:off x="12735133" y="4876291"/>
            <a:ext cx="346010" cy="346010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-5400000">
            <a:off x="16863436" y="4876291"/>
            <a:ext cx="346010" cy="346010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3" name="AutoShape 33"/>
          <p:cNvSpPr/>
          <p:nvPr/>
        </p:nvSpPr>
        <p:spPr>
          <a:xfrm>
            <a:off x="9390481" y="6637779"/>
            <a:ext cx="364754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>
            <a:off x="13561901" y="6637779"/>
            <a:ext cx="364754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AutoShape 35"/>
          <p:cNvSpPr/>
          <p:nvPr/>
        </p:nvSpPr>
        <p:spPr>
          <a:xfrm>
            <a:off x="5200012" y="6637779"/>
            <a:ext cx="364754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>
            <a:off x="1028700" y="6637779"/>
            <a:ext cx="364754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AutoShape 37"/>
          <p:cNvSpPr/>
          <p:nvPr/>
        </p:nvSpPr>
        <p:spPr>
          <a:xfrm>
            <a:off x="9390481" y="7816973"/>
            <a:ext cx="364754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" name="AutoShape 38"/>
          <p:cNvSpPr/>
          <p:nvPr/>
        </p:nvSpPr>
        <p:spPr>
          <a:xfrm>
            <a:off x="5200012" y="7816973"/>
            <a:ext cx="364754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9" name="AutoShape 39"/>
          <p:cNvSpPr/>
          <p:nvPr/>
        </p:nvSpPr>
        <p:spPr>
          <a:xfrm>
            <a:off x="1028700" y="7816973"/>
            <a:ext cx="364754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AutoShape 40"/>
          <p:cNvSpPr/>
          <p:nvPr/>
        </p:nvSpPr>
        <p:spPr>
          <a:xfrm>
            <a:off x="9390481" y="5440936"/>
            <a:ext cx="364754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AutoShape 41"/>
          <p:cNvSpPr/>
          <p:nvPr/>
        </p:nvSpPr>
        <p:spPr>
          <a:xfrm>
            <a:off x="13561901" y="5440936"/>
            <a:ext cx="364754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AutoShape 42"/>
          <p:cNvSpPr/>
          <p:nvPr/>
        </p:nvSpPr>
        <p:spPr>
          <a:xfrm>
            <a:off x="5200012" y="5440936"/>
            <a:ext cx="364754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3" name="AutoShape 43"/>
          <p:cNvSpPr/>
          <p:nvPr/>
        </p:nvSpPr>
        <p:spPr>
          <a:xfrm>
            <a:off x="1028700" y="5440936"/>
            <a:ext cx="364754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12109489" y="9617198"/>
            <a:ext cx="597421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T Commons Pro Expanded"/>
              </a:rPr>
              <a:t>PAGE 02 - 20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28700" y="2555045"/>
            <a:ext cx="8115300" cy="1377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342"/>
              </a:lnSpc>
            </a:pPr>
            <a:r>
              <a:rPr lang="en-US" sz="10342" spc="-206">
                <a:solidFill>
                  <a:srgbClr val="000000"/>
                </a:solidFill>
                <a:latin typeface="TT Commons Pro Expanded"/>
              </a:rPr>
              <a:t>Overview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28700" y="4831840"/>
            <a:ext cx="2714605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 dirty="0">
                <a:solidFill>
                  <a:srgbClr val="000000"/>
                </a:solidFill>
                <a:latin typeface="TT Commons Pro Expanded"/>
              </a:rPr>
              <a:t>PROBLEM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00012" y="4831840"/>
            <a:ext cx="2329985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 dirty="0">
                <a:solidFill>
                  <a:srgbClr val="000000"/>
                </a:solidFill>
                <a:latin typeface="TT Commons Pro Expanded"/>
              </a:rPr>
              <a:t>LITERATURE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398561" y="4831840"/>
            <a:ext cx="3193697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 dirty="0">
                <a:solidFill>
                  <a:srgbClr val="000000"/>
                </a:solidFill>
                <a:latin typeface="TT Commons Pro Expanded"/>
              </a:rPr>
              <a:t>RESEARCH GAP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561793" y="4831840"/>
            <a:ext cx="3084963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TT Commons Pro Expanded"/>
              </a:rPr>
              <a:t>OBJECTIVES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28700" y="6031990"/>
            <a:ext cx="2867494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 dirty="0">
                <a:solidFill>
                  <a:srgbClr val="000000"/>
                </a:solidFill>
                <a:latin typeface="TT Commons Pro Expanded"/>
              </a:rPr>
              <a:t>INTRODUCTION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200012" y="6031990"/>
            <a:ext cx="2867494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 dirty="0">
                <a:solidFill>
                  <a:srgbClr val="000000"/>
                </a:solidFill>
                <a:latin typeface="TT Commons Pro Expanded"/>
              </a:rPr>
              <a:t>BACKGROUND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398561" y="6031990"/>
            <a:ext cx="2710929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 dirty="0">
                <a:solidFill>
                  <a:srgbClr val="000000"/>
                </a:solidFill>
                <a:latin typeface="TT Commons Pro Expanded"/>
              </a:rPr>
              <a:t>METHODOLOGY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561793" y="6031990"/>
            <a:ext cx="3084963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Commons Pro Expanded"/>
              </a:rPr>
              <a:t>IMPLEMENTATION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28700" y="7232139"/>
            <a:ext cx="2867494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T Commons Pro Expanded"/>
              </a:rPr>
              <a:t>RESULT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200012" y="7232139"/>
            <a:ext cx="2867494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T Commons Pro Expanded"/>
              </a:rPr>
              <a:t>CONCLUSION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398561" y="7232139"/>
            <a:ext cx="3293456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T Commons Pro Expanded"/>
              </a:rPr>
              <a:t>FUTURE DIRECTION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416464" y="4828666"/>
            <a:ext cx="135235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</a:rPr>
              <a:t>1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614375" y="4828666"/>
            <a:ext cx="139402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</a:rPr>
              <a:t>2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834468" y="4828666"/>
            <a:ext cx="14734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</a:rPr>
              <a:t>3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6959596" y="4841365"/>
            <a:ext cx="15369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</a:rPr>
              <a:t>4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411106" y="6098030"/>
            <a:ext cx="150118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Canva Sans"/>
              </a:rPr>
              <a:t>5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592845" y="6063169"/>
            <a:ext cx="163413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</a:rPr>
              <a:t>6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815418" y="6075837"/>
            <a:ext cx="125313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</a:rPr>
              <a:t>7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6923977" y="6063169"/>
            <a:ext cx="153491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</a:rPr>
              <a:t>8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404558" y="7275986"/>
            <a:ext cx="163215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</a:rPr>
              <a:t>9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483369" y="7272843"/>
            <a:ext cx="355831" cy="288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18"/>
              </a:lnSpc>
            </a:pPr>
            <a:r>
              <a:rPr lang="en-US" sz="1727" dirty="0">
                <a:solidFill>
                  <a:srgbClr val="000000"/>
                </a:solidFill>
                <a:latin typeface="Canva Sans"/>
              </a:rPr>
              <a:t>10</a:t>
            </a:r>
          </a:p>
        </p:txBody>
      </p:sp>
      <p:grpSp>
        <p:nvGrpSpPr>
          <p:cNvPr id="67" name="Group 67"/>
          <p:cNvGrpSpPr/>
          <p:nvPr/>
        </p:nvGrpSpPr>
        <p:grpSpPr>
          <a:xfrm rot="-5400000">
            <a:off x="12724808" y="7248548"/>
            <a:ext cx="366659" cy="366659"/>
            <a:chOff x="0" y="0"/>
            <a:chExt cx="812800" cy="812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2725400" y="7268923"/>
            <a:ext cx="319394" cy="288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18"/>
              </a:lnSpc>
            </a:pPr>
            <a:r>
              <a:rPr lang="en-US" sz="1727" dirty="0">
                <a:solidFill>
                  <a:srgbClr val="000000"/>
                </a:solidFill>
                <a:latin typeface="Canva Sans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701123">
            <a:off x="-6511769" y="151390"/>
            <a:ext cx="16229080" cy="19701463"/>
          </a:xfrm>
          <a:custGeom>
            <a:avLst/>
            <a:gdLst/>
            <a:ahLst/>
            <a:cxnLst/>
            <a:rect l="l" t="t" r="r" b="b"/>
            <a:pathLst>
              <a:path w="16229080" h="19701463">
                <a:moveTo>
                  <a:pt x="0" y="0"/>
                </a:moveTo>
                <a:lnTo>
                  <a:pt x="16229080" y="0"/>
                </a:lnTo>
                <a:lnTo>
                  <a:pt x="16229080" y="19701463"/>
                </a:lnTo>
                <a:lnTo>
                  <a:pt x="0" y="1970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8701123">
            <a:off x="9046121" y="-12286961"/>
            <a:ext cx="16229080" cy="19701463"/>
          </a:xfrm>
          <a:custGeom>
            <a:avLst/>
            <a:gdLst/>
            <a:ahLst/>
            <a:cxnLst/>
            <a:rect l="l" t="t" r="r" b="b"/>
            <a:pathLst>
              <a:path w="16229080" h="19701463">
                <a:moveTo>
                  <a:pt x="0" y="0"/>
                </a:moveTo>
                <a:lnTo>
                  <a:pt x="16229080" y="0"/>
                </a:lnTo>
                <a:lnTo>
                  <a:pt x="16229080" y="19701463"/>
                </a:lnTo>
                <a:lnTo>
                  <a:pt x="0" y="1970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311682" y="6007475"/>
            <a:ext cx="5664636" cy="2909195"/>
          </a:xfrm>
          <a:custGeom>
            <a:avLst/>
            <a:gdLst/>
            <a:ahLst/>
            <a:cxnLst/>
            <a:rect l="l" t="t" r="r" b="b"/>
            <a:pathLst>
              <a:path w="5664636" h="2909195">
                <a:moveTo>
                  <a:pt x="0" y="0"/>
                </a:moveTo>
                <a:lnTo>
                  <a:pt x="5664636" y="0"/>
                </a:lnTo>
                <a:lnTo>
                  <a:pt x="5664636" y="2909195"/>
                </a:lnTo>
                <a:lnTo>
                  <a:pt x="0" y="2909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171575"/>
            <a:ext cx="1426236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8000" spc="-160">
                <a:solidFill>
                  <a:srgbClr val="000000"/>
                </a:solidFill>
                <a:latin typeface="TT Commons Pro Expanded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670969"/>
            <a:ext cx="16131961" cy="232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58"/>
              </a:lnSpc>
            </a:pPr>
            <a:r>
              <a:rPr lang="en-US" sz="3327">
                <a:solidFill>
                  <a:srgbClr val="000000"/>
                </a:solidFill>
                <a:latin typeface="TT Commons Pro Expanded"/>
              </a:rPr>
              <a:t>The underutilization of sentiment analysis in algorithmic trading presents an opportunity to gain a competitive advantage in the Colombo Stock Exchange. By incorporating investor and company-related sentiment data, traders can develop more comprehensive and profitable strategies.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03 - 20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16472">
            <a:off x="12138332" y="3535728"/>
            <a:ext cx="8142234" cy="9884351"/>
          </a:xfrm>
          <a:custGeom>
            <a:avLst/>
            <a:gdLst/>
            <a:ahLst/>
            <a:cxnLst/>
            <a:rect l="l" t="t" r="r" b="b"/>
            <a:pathLst>
              <a:path w="8142234" h="9884351">
                <a:moveTo>
                  <a:pt x="0" y="0"/>
                </a:moveTo>
                <a:lnTo>
                  <a:pt x="8142234" y="0"/>
                </a:lnTo>
                <a:lnTo>
                  <a:pt x="8142234" y="9884351"/>
                </a:lnTo>
                <a:lnTo>
                  <a:pt x="0" y="9884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819234">
            <a:off x="-2311890" y="-3354383"/>
            <a:ext cx="8825839" cy="10086673"/>
          </a:xfrm>
          <a:custGeom>
            <a:avLst/>
            <a:gdLst/>
            <a:ahLst/>
            <a:cxnLst/>
            <a:rect l="l" t="t" r="r" b="b"/>
            <a:pathLst>
              <a:path w="8825839" h="10086673">
                <a:moveTo>
                  <a:pt x="0" y="0"/>
                </a:moveTo>
                <a:lnTo>
                  <a:pt x="8825839" y="0"/>
                </a:lnTo>
                <a:lnTo>
                  <a:pt x="8825839" y="10086672"/>
                </a:lnTo>
                <a:lnTo>
                  <a:pt x="0" y="10086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89750" y="565150"/>
            <a:ext cx="929725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8000" spc="-160" dirty="0">
                <a:solidFill>
                  <a:srgbClr val="000000"/>
                </a:solidFill>
                <a:latin typeface="TT Commons Pro Expanded"/>
              </a:rPr>
              <a:t>Literature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04 - 20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AFB1F8-39DD-79BB-E2FB-4D885981A487}"/>
              </a:ext>
            </a:extLst>
          </p:cNvPr>
          <p:cNvSpPr txBox="1"/>
          <p:nvPr/>
        </p:nvSpPr>
        <p:spPr>
          <a:xfrm>
            <a:off x="7620000" y="3621815"/>
            <a:ext cx="9753600" cy="163121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000" b="0" i="0" u="none" strike="noStrike" baseline="0" dirty="0">
                <a:latin typeface="TT Commons Pro Expanded" panose="020B0604020202020204" charset="0"/>
              </a:rPr>
              <a:t>Sentiment analysis, a complementary approach, evaluates investor sentiment from financial news to predict market moves. Studies show that syntactic features, such as noun-verb combinations, provide better sentiment predictions, outperforming traditional methods on precision and recall.</a:t>
            </a:r>
            <a:endParaRPr lang="en-US" sz="2000" dirty="0">
              <a:latin typeface="TT Commons Pro Expanded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061284-DBE0-56DD-D4F9-4846D07509B4}"/>
              </a:ext>
            </a:extLst>
          </p:cNvPr>
          <p:cNvSpPr txBox="1"/>
          <p:nvPr/>
        </p:nvSpPr>
        <p:spPr>
          <a:xfrm>
            <a:off x="838200" y="2016758"/>
            <a:ext cx="8153400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000" b="0" i="0" u="none" strike="noStrike" baseline="0" dirty="0">
                <a:latin typeface="TT Commons Pro Expanded" panose="020B0604020202020204" charset="0"/>
              </a:rPr>
              <a:t>Combining sentiment with technical indicators allows for a more comprehensive perspective.</a:t>
            </a:r>
            <a:endParaRPr lang="en-US" sz="2000" dirty="0">
              <a:latin typeface="TT Commons Pro Expanded" panose="020B060402020202020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CB693-F3FE-031C-794C-B57970115327}"/>
              </a:ext>
            </a:extLst>
          </p:cNvPr>
          <p:cNvSpPr txBox="1"/>
          <p:nvPr/>
        </p:nvSpPr>
        <p:spPr>
          <a:xfrm>
            <a:off x="989750" y="6068670"/>
            <a:ext cx="8001850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000" b="0" i="0" u="none" strike="noStrike" baseline="0" dirty="0">
                <a:latin typeface="TT Commons Pro Expanded" panose="020B0604020202020204" charset="0"/>
              </a:rPr>
              <a:t>Sentiment analysis has emerged as a crucial tool in algorithmic trading, helping traders understand market participants’ emotions and attitudes.</a:t>
            </a:r>
            <a:endParaRPr lang="en-US" sz="2000" dirty="0">
              <a:latin typeface="TT Commons Pro Expanded" panose="020B0604020202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51E879-2C09-04D7-125F-D7B4E68E4A54}"/>
              </a:ext>
            </a:extLst>
          </p:cNvPr>
          <p:cNvSpPr txBox="1"/>
          <p:nvPr/>
        </p:nvSpPr>
        <p:spPr>
          <a:xfrm>
            <a:off x="7616952" y="7938771"/>
            <a:ext cx="9756648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000" b="0" i="0" u="none" strike="noStrike" baseline="0" dirty="0">
                <a:latin typeface="TT Commons Pro Expanded" panose="020B0604020202020204" charset="0"/>
              </a:rPr>
              <a:t>In the Sri Lankan context, research on the Colombo Stock Exchange (CSE) is limited, with notable studies comparing RNN strategies, revealing insights into potential profitability.</a:t>
            </a:r>
            <a:endParaRPr lang="en-US" sz="2000" dirty="0">
              <a:latin typeface="TT Commons Pro Expanded" panose="020B060402020202020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F0E47F-7A08-3FDE-A86E-E59C3C21AF23}"/>
              </a:ext>
            </a:extLst>
          </p:cNvPr>
          <p:cNvSpPr txBox="1"/>
          <p:nvPr/>
        </p:nvSpPr>
        <p:spPr>
          <a:xfrm>
            <a:off x="9296402" y="2033696"/>
            <a:ext cx="81533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 u="none" strike="noStrike" baseline="0" dirty="0">
                <a:latin typeface="TT Commons Pro Expanded" panose="020B0604020202020204" charset="0"/>
              </a:rPr>
              <a:t>Neely, C., Weller, P. and Dittmar, R. (1997) </a:t>
            </a:r>
            <a:r>
              <a:rPr lang="en-US" sz="1100" b="0" i="0" u="none" strike="noStrike" baseline="0" dirty="0">
                <a:latin typeface="TT Commons Pro Expanded" panose="020B0604020202020204" charset="0"/>
              </a:rPr>
              <a:t>‘Is Technical Analysis in the Foreign Exchange Market Profitable? A Genetic Programming Approach’, Journal of Financial and Quantitative Analysis, 32(4), pp. 405–426. Available at: https://EconPapers.repec.org/RePEc:cup:jfinqa:v:32:y:1997:i:04:p:405-426_00.</a:t>
            </a:r>
            <a:endParaRPr lang="en-US" sz="800" dirty="0">
              <a:latin typeface="TT Commons Pro Expanded" panose="020B060402020202020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945443-7630-5BA0-18D9-F16009949D4B}"/>
              </a:ext>
            </a:extLst>
          </p:cNvPr>
          <p:cNvSpPr txBox="1"/>
          <p:nvPr/>
        </p:nvSpPr>
        <p:spPr>
          <a:xfrm>
            <a:off x="838200" y="4053870"/>
            <a:ext cx="64008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 u="none" strike="noStrike" baseline="0" dirty="0">
                <a:latin typeface="TT Commons Pro Expanded" panose="020B0604020202020204" charset="0"/>
              </a:rPr>
              <a:t>Kaya, M.I.Y. and </a:t>
            </a:r>
            <a:r>
              <a:rPr lang="en-US" sz="1200" b="1" i="0" u="none" strike="noStrike" baseline="0" dirty="0" err="1">
                <a:latin typeface="TT Commons Pro Expanded" panose="020B0604020202020204" charset="0"/>
              </a:rPr>
              <a:t>Karsligil</a:t>
            </a:r>
            <a:r>
              <a:rPr lang="en-US" sz="1200" b="1" i="0" u="none" strike="noStrike" baseline="0" dirty="0">
                <a:latin typeface="TT Commons Pro Expanded" panose="020B0604020202020204" charset="0"/>
              </a:rPr>
              <a:t>, M.E. (2010</a:t>
            </a:r>
            <a:r>
              <a:rPr lang="en-US" sz="1100" b="0" i="0" u="none" strike="noStrike" baseline="0" dirty="0">
                <a:latin typeface="TT Commons Pro Expanded" panose="020B0604020202020204" charset="0"/>
              </a:rPr>
              <a:t>) ‘Stock price prediction using financial news articles’, in 2010 2nd IEEE International Conference on Information and Financial Engineering. IEEE, pp. 478–482. Available at: https://doi.org/10.1109/ICIFE.2010.5609404.</a:t>
            </a:r>
            <a:endParaRPr lang="en-US" sz="1100" dirty="0">
              <a:latin typeface="TT Commons Pro Expanded" panose="020B060402020202020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90377C-F196-9612-B13B-72451FE95BB7}"/>
              </a:ext>
            </a:extLst>
          </p:cNvPr>
          <p:cNvSpPr txBox="1"/>
          <p:nvPr/>
        </p:nvSpPr>
        <p:spPr>
          <a:xfrm>
            <a:off x="9446342" y="6353363"/>
            <a:ext cx="79248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 u="none" strike="noStrike" baseline="0" dirty="0">
                <a:latin typeface="TT Commons Pro Expanded" panose="020B0604020202020204" charset="0"/>
              </a:rPr>
              <a:t>Das, S.R. and Chen, M.Y. (2007) </a:t>
            </a:r>
            <a:r>
              <a:rPr lang="en-US" sz="1100" b="0" i="0" u="none" strike="noStrike" baseline="0" dirty="0">
                <a:latin typeface="TT Commons Pro Expanded" panose="020B0604020202020204" charset="0"/>
              </a:rPr>
              <a:t>‘Yahoo! for amazon: Sentiment extraction from small talk on the </a:t>
            </a:r>
            <a:r>
              <a:rPr lang="fr-FR" sz="1100" b="0" i="0" u="none" strike="noStrike" baseline="0" dirty="0">
                <a:latin typeface="TT Commons Pro Expanded" panose="020B0604020202020204" charset="0"/>
              </a:rPr>
              <a:t>Web’, Management Science, 53(9), pp. 1375–1388. </a:t>
            </a:r>
            <a:r>
              <a:rPr lang="fr-FR" sz="1100" b="0" i="0" u="none" strike="noStrike" baseline="0" dirty="0" err="1">
                <a:latin typeface="TT Commons Pro Expanded" panose="020B0604020202020204" charset="0"/>
              </a:rPr>
              <a:t>Available</a:t>
            </a:r>
            <a:r>
              <a:rPr lang="fr-FR" sz="1100" b="0" i="0" u="none" strike="noStrike" baseline="0" dirty="0">
                <a:latin typeface="TT Commons Pro Expanded" panose="020B0604020202020204" charset="0"/>
              </a:rPr>
              <a:t> at: </a:t>
            </a:r>
            <a:r>
              <a:rPr lang="en-US" sz="1100" b="0" i="0" u="none" strike="noStrike" baseline="0" dirty="0">
                <a:latin typeface="TT Commons Pro Expanded" panose="020B0604020202020204" charset="0"/>
              </a:rPr>
              <a:t>https://doi.org/10.1287/mnsc.1070.0704.</a:t>
            </a:r>
            <a:endParaRPr lang="en-US" sz="1100" dirty="0">
              <a:latin typeface="TT Commons Pro Expanded" panose="020B060402020202020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996ABD-A84F-D6A7-CE5F-2E6E1FC5C51B}"/>
              </a:ext>
            </a:extLst>
          </p:cNvPr>
          <p:cNvSpPr txBox="1"/>
          <p:nvPr/>
        </p:nvSpPr>
        <p:spPr>
          <a:xfrm>
            <a:off x="914400" y="8215637"/>
            <a:ext cx="63246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 u="none" strike="noStrike" baseline="0" dirty="0" err="1">
                <a:latin typeface="TT Commons Pro Expanded" panose="020B0604020202020204" charset="0"/>
              </a:rPr>
              <a:t>Priyadarshna</a:t>
            </a:r>
            <a:r>
              <a:rPr lang="en-US" sz="1200" b="1" i="0" u="none" strike="noStrike" baseline="0" dirty="0">
                <a:latin typeface="TT Commons Pro Expanded" panose="020B0604020202020204" charset="0"/>
              </a:rPr>
              <a:t> M D S L (2021) </a:t>
            </a:r>
            <a:r>
              <a:rPr lang="en-US" sz="1100" b="0" i="0" u="none" strike="noStrike" baseline="0" dirty="0">
                <a:latin typeface="TT Commons Pro Expanded" panose="020B0604020202020204" charset="0"/>
              </a:rPr>
              <a:t>Identifying CSE market signals by integrating technical analysis with machine learning techniques.</a:t>
            </a:r>
            <a:endParaRPr lang="en-US" sz="1100" dirty="0">
              <a:latin typeface="TT Commons Pro Expanded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5555" y="-4585540"/>
            <a:ext cx="11405723" cy="13035112"/>
          </a:xfrm>
          <a:custGeom>
            <a:avLst/>
            <a:gdLst/>
            <a:ahLst/>
            <a:cxnLst/>
            <a:rect l="l" t="t" r="r" b="b"/>
            <a:pathLst>
              <a:path w="11405723" h="13035112">
                <a:moveTo>
                  <a:pt x="0" y="0"/>
                </a:moveTo>
                <a:lnTo>
                  <a:pt x="11405723" y="0"/>
                </a:lnTo>
                <a:lnTo>
                  <a:pt x="11405723" y="13035112"/>
                </a:lnTo>
                <a:lnTo>
                  <a:pt x="0" y="1303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7986543">
            <a:off x="-598105" y="6639047"/>
            <a:ext cx="4232782" cy="5138431"/>
          </a:xfrm>
          <a:custGeom>
            <a:avLst/>
            <a:gdLst/>
            <a:ahLst/>
            <a:cxnLst/>
            <a:rect l="l" t="t" r="r" b="b"/>
            <a:pathLst>
              <a:path w="4232782" h="5138431">
                <a:moveTo>
                  <a:pt x="0" y="0"/>
                </a:moveTo>
                <a:lnTo>
                  <a:pt x="4232783" y="0"/>
                </a:lnTo>
                <a:lnTo>
                  <a:pt x="4232783" y="5138431"/>
                </a:lnTo>
                <a:lnTo>
                  <a:pt x="0" y="51384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155523" y="2132627"/>
            <a:ext cx="1578074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155523" y="4494517"/>
            <a:ext cx="1578074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446681" y="4804410"/>
            <a:ext cx="6489583" cy="3844380"/>
          </a:xfrm>
          <a:custGeom>
            <a:avLst/>
            <a:gdLst/>
            <a:ahLst/>
            <a:cxnLst/>
            <a:rect l="l" t="t" r="r" b="b"/>
            <a:pathLst>
              <a:path w="6489583" h="3844380">
                <a:moveTo>
                  <a:pt x="0" y="0"/>
                </a:moveTo>
                <a:lnTo>
                  <a:pt x="6489582" y="0"/>
                </a:lnTo>
                <a:lnTo>
                  <a:pt x="6489582" y="3844381"/>
                </a:lnTo>
                <a:lnTo>
                  <a:pt x="0" y="3844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097" b="-1109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155523" y="1290291"/>
            <a:ext cx="6569392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TT Commons Pro Expanded Bold"/>
              </a:rPr>
              <a:t>RESEARCH QUESTION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5523" y="3652181"/>
            <a:ext cx="7226808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TT Commons Pro Expanded Bold"/>
              </a:rPr>
              <a:t>OBJECTIVES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5523" y="2427902"/>
            <a:ext cx="15780740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TT Commons Pro Expanded"/>
              </a:rPr>
              <a:t>What impact does incorporating sentiment analysis alongside technical indicators have on the performance of algorithmic trading strategies in volatile markets?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5523" y="4842510"/>
            <a:ext cx="15780740" cy="4365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288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 Expanded"/>
              </a:rPr>
              <a:t>Acquire Data</a:t>
            </a:r>
          </a:p>
          <a:p>
            <a:pPr algn="just">
              <a:lnSpc>
                <a:spcPts val="2883"/>
              </a:lnSpc>
            </a:pPr>
            <a:endParaRPr lang="en-US" sz="2799">
              <a:solidFill>
                <a:srgbClr val="000000"/>
              </a:solidFill>
              <a:latin typeface="TT Commons Pro Expanded"/>
            </a:endParaRPr>
          </a:p>
          <a:p>
            <a:pPr marL="604519" lvl="1" indent="-302260" algn="just">
              <a:lnSpc>
                <a:spcPts val="288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 Expanded"/>
              </a:rPr>
              <a:t>Develop Forecasting Models</a:t>
            </a:r>
          </a:p>
          <a:p>
            <a:pPr algn="just">
              <a:lnSpc>
                <a:spcPts val="2883"/>
              </a:lnSpc>
            </a:pPr>
            <a:endParaRPr lang="en-US" sz="2799">
              <a:solidFill>
                <a:srgbClr val="000000"/>
              </a:solidFill>
              <a:latin typeface="TT Commons Pro Expanded"/>
            </a:endParaRPr>
          </a:p>
          <a:p>
            <a:pPr marL="604519" lvl="1" indent="-302260" algn="just">
              <a:lnSpc>
                <a:spcPts val="288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 Expanded"/>
              </a:rPr>
              <a:t>Explore Methodologies</a:t>
            </a:r>
          </a:p>
          <a:p>
            <a:pPr algn="just">
              <a:lnSpc>
                <a:spcPts val="2883"/>
              </a:lnSpc>
            </a:pPr>
            <a:endParaRPr lang="en-US" sz="2799">
              <a:solidFill>
                <a:srgbClr val="000000"/>
              </a:solidFill>
              <a:latin typeface="TT Commons Pro Expanded"/>
            </a:endParaRPr>
          </a:p>
          <a:p>
            <a:pPr marL="604519" lvl="1" indent="-302260" algn="just">
              <a:lnSpc>
                <a:spcPts val="288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 Expanded"/>
              </a:rPr>
              <a:t>Refine Strategies</a:t>
            </a:r>
          </a:p>
          <a:p>
            <a:pPr algn="just">
              <a:lnSpc>
                <a:spcPts val="2883"/>
              </a:lnSpc>
            </a:pPr>
            <a:endParaRPr lang="en-US" sz="2799">
              <a:solidFill>
                <a:srgbClr val="000000"/>
              </a:solidFill>
              <a:latin typeface="TT Commons Pro Expanded"/>
            </a:endParaRPr>
          </a:p>
          <a:p>
            <a:pPr marL="604519" lvl="1" indent="-302260" algn="just">
              <a:lnSpc>
                <a:spcPts val="288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 Expanded"/>
              </a:rPr>
              <a:t>Create Integrated Approach.</a:t>
            </a:r>
          </a:p>
          <a:p>
            <a:pPr algn="just">
              <a:lnSpc>
                <a:spcPts val="2883"/>
              </a:lnSpc>
            </a:pPr>
            <a:endParaRPr lang="en-US" sz="2799">
              <a:solidFill>
                <a:srgbClr val="000000"/>
              </a:solidFill>
              <a:latin typeface="TT Commons Pro Expanded"/>
            </a:endParaRPr>
          </a:p>
          <a:p>
            <a:pPr marL="604519" lvl="1" indent="-302260" algn="just">
              <a:lnSpc>
                <a:spcPts val="288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 Expanded"/>
              </a:rPr>
              <a:t>Build Decision Tools</a:t>
            </a:r>
          </a:p>
          <a:p>
            <a:pPr algn="just">
              <a:lnSpc>
                <a:spcPts val="2883"/>
              </a:lnSpc>
            </a:pPr>
            <a:endParaRPr lang="en-US" sz="2799">
              <a:solidFill>
                <a:srgbClr val="000000"/>
              </a:solidFill>
              <a:latin typeface="TT Commons Pro Expande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05 - 20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71751" y="4439821"/>
            <a:ext cx="11405723" cy="13035112"/>
          </a:xfrm>
          <a:custGeom>
            <a:avLst/>
            <a:gdLst/>
            <a:ahLst/>
            <a:cxnLst/>
            <a:rect l="l" t="t" r="r" b="b"/>
            <a:pathLst>
              <a:path w="11405723" h="13035112">
                <a:moveTo>
                  <a:pt x="0" y="0"/>
                </a:moveTo>
                <a:lnTo>
                  <a:pt x="11405723" y="0"/>
                </a:lnTo>
                <a:lnTo>
                  <a:pt x="11405723" y="13035111"/>
                </a:lnTo>
                <a:lnTo>
                  <a:pt x="0" y="13035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655555" y="-4585540"/>
            <a:ext cx="11405723" cy="13035112"/>
          </a:xfrm>
          <a:custGeom>
            <a:avLst/>
            <a:gdLst/>
            <a:ahLst/>
            <a:cxnLst/>
            <a:rect l="l" t="t" r="r" b="b"/>
            <a:pathLst>
              <a:path w="11405723" h="13035112">
                <a:moveTo>
                  <a:pt x="0" y="0"/>
                </a:moveTo>
                <a:lnTo>
                  <a:pt x="11405723" y="0"/>
                </a:lnTo>
                <a:lnTo>
                  <a:pt x="11405723" y="13035112"/>
                </a:lnTo>
                <a:lnTo>
                  <a:pt x="0" y="1303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631110" y="2092461"/>
            <a:ext cx="4539056" cy="5641721"/>
            <a:chOff x="0" y="0"/>
            <a:chExt cx="6052074" cy="7522295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 l="48076" t="130" b="130"/>
            <a:stretch>
              <a:fillRect/>
            </a:stretch>
          </p:blipFill>
          <p:spPr>
            <a:xfrm>
              <a:off x="0" y="0"/>
              <a:ext cx="6052074" cy="7522295"/>
            </a:xfrm>
            <a:prstGeom prst="rect">
              <a:avLst/>
            </a:prstGeom>
          </p:spPr>
        </p:pic>
      </p:grpSp>
      <p:sp>
        <p:nvSpPr>
          <p:cNvPr id="6" name="TextBox 6"/>
          <p:cNvSpPr txBox="1"/>
          <p:nvPr/>
        </p:nvSpPr>
        <p:spPr>
          <a:xfrm>
            <a:off x="5547044" y="387764"/>
            <a:ext cx="11696535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8000" spc="-160">
                <a:solidFill>
                  <a:srgbClr val="000000"/>
                </a:solidFill>
                <a:latin typeface="TT Commons Pro Expande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7044" y="1478311"/>
            <a:ext cx="12045145" cy="33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TT Commons Pro Expanded Bold"/>
              </a:rPr>
              <a:t>Algorithms</a:t>
            </a:r>
            <a:r>
              <a:rPr lang="en-US" sz="2700">
                <a:solidFill>
                  <a:srgbClr val="000000"/>
                </a:solidFill>
                <a:latin typeface="TT Commons Pro Expanded"/>
              </a:rPr>
              <a:t> are step-by-step procedures or formulas designed to solves pecific problems or perform tasks in computing and various fields.</a:t>
            </a:r>
          </a:p>
          <a:p>
            <a:pPr algn="just">
              <a:lnSpc>
                <a:spcPts val="3780"/>
              </a:lnSpc>
            </a:pPr>
            <a:endParaRPr lang="en-US" sz="2700">
              <a:solidFill>
                <a:srgbClr val="000000"/>
              </a:solidFill>
              <a:latin typeface="TT Commons Pro Expanded"/>
            </a:endParaRP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TT Commons Pro Expanded Bold"/>
              </a:rPr>
              <a:t>Trading algorithms</a:t>
            </a:r>
            <a:r>
              <a:rPr lang="en-US" sz="2700">
                <a:solidFill>
                  <a:srgbClr val="000000"/>
                </a:solidFill>
                <a:latin typeface="TT Commons Pro Expanded"/>
              </a:rPr>
              <a:t> are computer-generated instructions designed to execute automated buy or sell orders in financial markets based on predefined criteria and strategies.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7044" y="5086350"/>
            <a:ext cx="12045145" cy="427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TT Commons Pro Expanded"/>
              </a:rPr>
              <a:t>For that: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TT Commons Pro Expanded Bold"/>
              </a:rPr>
              <a:t>Technical analysis</a:t>
            </a:r>
            <a:r>
              <a:rPr lang="en-US" sz="2700">
                <a:solidFill>
                  <a:srgbClr val="000000"/>
                </a:solidFill>
                <a:latin typeface="TT Commons Pro Expanded"/>
              </a:rPr>
              <a:t> involves evaluating historical price charts and trading volumes to forecast future price movements in financial markets</a:t>
            </a:r>
          </a:p>
          <a:p>
            <a:pPr algn="just">
              <a:lnSpc>
                <a:spcPts val="3780"/>
              </a:lnSpc>
            </a:pPr>
            <a:endParaRPr lang="en-US" sz="2700">
              <a:solidFill>
                <a:srgbClr val="000000"/>
              </a:solidFill>
              <a:latin typeface="TT Commons Pro Expanded"/>
            </a:endParaRP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TT Commons Pro Expanded"/>
              </a:rPr>
              <a:t>With a new addition: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TT Commons Pro Expanded Bold"/>
              </a:rPr>
              <a:t>Financial sentiment</a:t>
            </a:r>
            <a:r>
              <a:rPr lang="en-US" sz="2700">
                <a:solidFill>
                  <a:srgbClr val="000000"/>
                </a:solidFill>
                <a:latin typeface="TT Commons Pro Expanded"/>
              </a:rPr>
              <a:t> </a:t>
            </a:r>
            <a:r>
              <a:rPr lang="en-US" sz="2700">
                <a:solidFill>
                  <a:srgbClr val="000000"/>
                </a:solidFill>
                <a:latin typeface="TT Commons Pro Expanded Bold"/>
              </a:rPr>
              <a:t>analysis</a:t>
            </a:r>
            <a:r>
              <a:rPr lang="en-US" sz="2700">
                <a:solidFill>
                  <a:srgbClr val="000000"/>
                </a:solidFill>
                <a:latin typeface="TT Commons Pro Expanded"/>
              </a:rPr>
              <a:t> involves assessing and interpreting market participants' emotions, opinions, and attitudes toward financial assets to inform investment decisions.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06 - 20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16472">
            <a:off x="12138332" y="3535728"/>
            <a:ext cx="8142234" cy="9884351"/>
          </a:xfrm>
          <a:custGeom>
            <a:avLst/>
            <a:gdLst/>
            <a:ahLst/>
            <a:cxnLst/>
            <a:rect l="l" t="t" r="r" b="b"/>
            <a:pathLst>
              <a:path w="8142234" h="9884351">
                <a:moveTo>
                  <a:pt x="0" y="0"/>
                </a:moveTo>
                <a:lnTo>
                  <a:pt x="8142234" y="0"/>
                </a:lnTo>
                <a:lnTo>
                  <a:pt x="8142234" y="9884351"/>
                </a:lnTo>
                <a:lnTo>
                  <a:pt x="0" y="9884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819234">
            <a:off x="-2311890" y="-3354383"/>
            <a:ext cx="8825839" cy="10086673"/>
          </a:xfrm>
          <a:custGeom>
            <a:avLst/>
            <a:gdLst/>
            <a:ahLst/>
            <a:cxnLst/>
            <a:rect l="l" t="t" r="r" b="b"/>
            <a:pathLst>
              <a:path w="8825839" h="10086673">
                <a:moveTo>
                  <a:pt x="0" y="0"/>
                </a:moveTo>
                <a:lnTo>
                  <a:pt x="8825839" y="0"/>
                </a:lnTo>
                <a:lnTo>
                  <a:pt x="8825839" y="10086672"/>
                </a:lnTo>
                <a:lnTo>
                  <a:pt x="0" y="10086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664369" y="3051302"/>
            <a:ext cx="4956414" cy="4184396"/>
            <a:chOff x="0" y="0"/>
            <a:chExt cx="6608552" cy="5579195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2808" r="12808"/>
            <a:stretch>
              <a:fillRect/>
            </a:stretch>
          </p:blipFill>
          <p:spPr>
            <a:xfrm>
              <a:off x="0" y="0"/>
              <a:ext cx="6608552" cy="5579195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9690837" y="443186"/>
            <a:ext cx="81153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000"/>
              </a:lnSpc>
            </a:pPr>
            <a:r>
              <a:rPr lang="en-US" sz="8000" spc="-160">
                <a:solidFill>
                  <a:srgbClr val="000000"/>
                </a:solidFill>
                <a:latin typeface="TT Commons Pro Expanded"/>
              </a:rPr>
              <a:t>Background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1652714"/>
            <a:ext cx="870108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00"/>
              </a:lnSpc>
            </a:pPr>
            <a:r>
              <a:rPr lang="en-US" sz="5000" spc="-100" dirty="0">
                <a:solidFill>
                  <a:srgbClr val="000000"/>
                </a:solidFill>
                <a:latin typeface="TT Commons Pro Expanded Bold"/>
              </a:rPr>
              <a:t>Colombo Stock Exchange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07 - 20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E5FA61-EC32-B77E-5080-24078B640B68}"/>
              </a:ext>
            </a:extLst>
          </p:cNvPr>
          <p:cNvSpPr txBox="1"/>
          <p:nvPr/>
        </p:nvSpPr>
        <p:spPr>
          <a:xfrm>
            <a:off x="6324600" y="2322639"/>
            <a:ext cx="10820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T Commons Pro Expanded" panose="020B0604020202020204" charset="0"/>
              </a:rPr>
              <a:t>Regulation: </a:t>
            </a:r>
            <a:r>
              <a:rPr lang="en-US" sz="2000" dirty="0">
                <a:latin typeface="TT Commons Pro Expanded" panose="020B0604020202020204" charset="0"/>
              </a:rPr>
              <a:t>Overseen by the Securities and Exchange Commission of Sri Lanka (SEC) to ensure transparency and fairness.</a:t>
            </a:r>
          </a:p>
          <a:p>
            <a:endParaRPr lang="en-US" sz="2000" dirty="0">
              <a:latin typeface="TT Commons Pro Expanded" panose="020B0604020202020204" charset="0"/>
            </a:endParaRPr>
          </a:p>
          <a:p>
            <a:r>
              <a:rPr lang="en-US" sz="2000" b="1" dirty="0">
                <a:latin typeface="TT Commons Pro Expanded" panose="020B0604020202020204" charset="0"/>
              </a:rPr>
              <a:t>Market Overview: </a:t>
            </a:r>
            <a:r>
              <a:rPr lang="en-US" sz="2000" dirty="0">
                <a:latin typeface="TT Commons Pro Expanded" panose="020B0604020202020204" charset="0"/>
              </a:rPr>
              <a:t>Operates indices like the ASPI and S&amp;P SL20, trading both equity and debt securities, including stocks, bonds, and government securities.</a:t>
            </a:r>
          </a:p>
          <a:p>
            <a:endParaRPr lang="en-US" sz="2000" dirty="0">
              <a:latin typeface="TT Commons Pro Expanded" panose="020B0604020202020204" charset="0"/>
            </a:endParaRPr>
          </a:p>
          <a:p>
            <a:r>
              <a:rPr lang="en-US" sz="2000" b="1" dirty="0">
                <a:latin typeface="TT Commons Pro Expanded" panose="020B0604020202020204" charset="0"/>
              </a:rPr>
              <a:t>Participants: </a:t>
            </a:r>
            <a:r>
              <a:rPr lang="en-US" sz="2000" dirty="0">
                <a:latin typeface="TT Commons Pro Expanded" panose="020B0604020202020204" charset="0"/>
              </a:rPr>
              <a:t>Comprises over 290 listed companies.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CC296251-6DA6-FC11-B7AF-D00D21E4A700}"/>
              </a:ext>
            </a:extLst>
          </p:cNvPr>
          <p:cNvSpPr txBox="1"/>
          <p:nvPr/>
        </p:nvSpPr>
        <p:spPr>
          <a:xfrm>
            <a:off x="6395511" y="4993071"/>
            <a:ext cx="8701087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00"/>
              </a:lnSpc>
            </a:pPr>
            <a:r>
              <a:rPr lang="en-US" sz="5000" spc="-100" dirty="0">
                <a:solidFill>
                  <a:srgbClr val="000000"/>
                </a:solidFill>
                <a:latin typeface="TT Commons Pro Expanded Bold"/>
              </a:rPr>
              <a:t>S&amp;P SL20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0D6506-05A9-2513-4EB9-AF72EF8F3EA8}"/>
              </a:ext>
            </a:extLst>
          </p:cNvPr>
          <p:cNvSpPr txBox="1"/>
          <p:nvPr/>
        </p:nvSpPr>
        <p:spPr>
          <a:xfrm>
            <a:off x="6395511" y="5697783"/>
            <a:ext cx="10820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T Commons Pro Expanded" panose="020B0604020202020204" charset="0"/>
              </a:rPr>
              <a:t>Index Type: </a:t>
            </a:r>
            <a:r>
              <a:rPr lang="en-US" sz="2000" dirty="0">
                <a:latin typeface="TT Commons Pro Expanded" panose="020B0604020202020204" charset="0"/>
              </a:rPr>
              <a:t>The S&amp;P SL20 is a market-capitalization-weighted index.</a:t>
            </a:r>
          </a:p>
          <a:p>
            <a:endParaRPr lang="en-US" sz="2000" dirty="0">
              <a:latin typeface="TT Commons Pro Expanded" panose="020B0604020202020204" charset="0"/>
            </a:endParaRPr>
          </a:p>
          <a:p>
            <a:r>
              <a:rPr lang="en-US" sz="2000" b="1" dirty="0">
                <a:latin typeface="TT Commons Pro Expanded" panose="020B0604020202020204" charset="0"/>
              </a:rPr>
              <a:t>Market Representation:</a:t>
            </a:r>
            <a:r>
              <a:rPr lang="en-US" sz="2000" dirty="0">
                <a:latin typeface="TT Commons Pro Expanded" panose="020B0604020202020204" charset="0"/>
              </a:rPr>
              <a:t> Features companies across diverse sectors, offering a benchmark for large-cap performance in Sri Lanka.</a:t>
            </a:r>
          </a:p>
          <a:p>
            <a:endParaRPr lang="en-US" sz="2000" dirty="0">
              <a:latin typeface="TT Commons Pro Expanded" panose="020B0604020202020204" charset="0"/>
            </a:endParaRPr>
          </a:p>
          <a:p>
            <a:r>
              <a:rPr lang="en-US" sz="2000" b="1" dirty="0">
                <a:latin typeface="TT Commons Pro Expanded" panose="020B0604020202020204" charset="0"/>
              </a:rPr>
              <a:t>Investor Appeal: </a:t>
            </a:r>
            <a:r>
              <a:rPr lang="en-US" sz="2000" dirty="0">
                <a:latin typeface="TT Commons Pro Expanded" panose="020B0604020202020204" charset="0"/>
              </a:rPr>
              <a:t>Widely recognized by local and international investors, enhancing market visibility and attracting global interest.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19234">
            <a:off x="-3412284" y="-2817076"/>
            <a:ext cx="11909285" cy="13610612"/>
          </a:xfrm>
          <a:custGeom>
            <a:avLst/>
            <a:gdLst/>
            <a:ahLst/>
            <a:cxnLst/>
            <a:rect l="l" t="t" r="r" b="b"/>
            <a:pathLst>
              <a:path w="11909285" h="13610612">
                <a:moveTo>
                  <a:pt x="0" y="0"/>
                </a:moveTo>
                <a:lnTo>
                  <a:pt x="11909285" y="0"/>
                </a:lnTo>
                <a:lnTo>
                  <a:pt x="11909285" y="13610612"/>
                </a:lnTo>
                <a:lnTo>
                  <a:pt x="0" y="13610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2016472">
            <a:off x="13650289" y="5351725"/>
            <a:ext cx="6436082" cy="7813150"/>
          </a:xfrm>
          <a:custGeom>
            <a:avLst/>
            <a:gdLst/>
            <a:ahLst/>
            <a:cxnLst/>
            <a:rect l="l" t="t" r="r" b="b"/>
            <a:pathLst>
              <a:path w="6436082" h="7813150">
                <a:moveTo>
                  <a:pt x="0" y="0"/>
                </a:moveTo>
                <a:lnTo>
                  <a:pt x="6436082" y="0"/>
                </a:lnTo>
                <a:lnTo>
                  <a:pt x="6436082" y="7813150"/>
                </a:lnTo>
                <a:lnTo>
                  <a:pt x="0" y="7813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467723" y="1999000"/>
            <a:ext cx="13352554" cy="8035532"/>
          </a:xfrm>
          <a:custGeom>
            <a:avLst/>
            <a:gdLst/>
            <a:ahLst/>
            <a:cxnLst/>
            <a:rect l="l" t="t" r="r" b="b"/>
            <a:pathLst>
              <a:path w="13352554" h="8035532">
                <a:moveTo>
                  <a:pt x="0" y="0"/>
                </a:moveTo>
                <a:lnTo>
                  <a:pt x="13352554" y="0"/>
                </a:lnTo>
                <a:lnTo>
                  <a:pt x="13352554" y="8035532"/>
                </a:lnTo>
                <a:lnTo>
                  <a:pt x="0" y="8035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75" b="-15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735545" y="1470439"/>
            <a:ext cx="4816911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2599">
                <a:solidFill>
                  <a:srgbClr val="FF5757"/>
                </a:solidFill>
                <a:latin typeface="TT Commons Pro Expanded"/>
              </a:rPr>
              <a:t>PHASE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86313" y="356966"/>
            <a:ext cx="8715375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-160">
                <a:solidFill>
                  <a:srgbClr val="000000"/>
                </a:solidFill>
                <a:latin typeface="TT Commons Pro Expanded"/>
              </a:rPr>
              <a:t>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08 - 20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856586">
            <a:off x="10448178" y="1853782"/>
            <a:ext cx="13622244" cy="16536867"/>
          </a:xfrm>
          <a:custGeom>
            <a:avLst/>
            <a:gdLst/>
            <a:ahLst/>
            <a:cxnLst/>
            <a:rect l="l" t="t" r="r" b="b"/>
            <a:pathLst>
              <a:path w="13622244" h="16536867">
                <a:moveTo>
                  <a:pt x="0" y="0"/>
                </a:moveTo>
                <a:lnTo>
                  <a:pt x="13622244" y="0"/>
                </a:lnTo>
                <a:lnTo>
                  <a:pt x="13622244" y="16536866"/>
                </a:lnTo>
                <a:lnTo>
                  <a:pt x="0" y="16536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8365841" flipH="1">
            <a:off x="-153734" y="1881953"/>
            <a:ext cx="3241777" cy="3229989"/>
          </a:xfrm>
          <a:custGeom>
            <a:avLst/>
            <a:gdLst/>
            <a:ahLst/>
            <a:cxnLst/>
            <a:rect l="l" t="t" r="r" b="b"/>
            <a:pathLst>
              <a:path w="3241777" h="3229989">
                <a:moveTo>
                  <a:pt x="3241777" y="0"/>
                </a:moveTo>
                <a:lnTo>
                  <a:pt x="0" y="0"/>
                </a:lnTo>
                <a:lnTo>
                  <a:pt x="0" y="3229989"/>
                </a:lnTo>
                <a:lnTo>
                  <a:pt x="3241777" y="3229989"/>
                </a:lnTo>
                <a:lnTo>
                  <a:pt x="32417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55022" y="3496947"/>
            <a:ext cx="4863960" cy="3021377"/>
          </a:xfrm>
          <a:custGeom>
            <a:avLst/>
            <a:gdLst/>
            <a:ahLst/>
            <a:cxnLst/>
            <a:rect l="l" t="t" r="r" b="b"/>
            <a:pathLst>
              <a:path w="4863960" h="3021377">
                <a:moveTo>
                  <a:pt x="0" y="0"/>
                </a:moveTo>
                <a:lnTo>
                  <a:pt x="4863959" y="0"/>
                </a:lnTo>
                <a:lnTo>
                  <a:pt x="4863959" y="3021378"/>
                </a:lnTo>
                <a:lnTo>
                  <a:pt x="0" y="30213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518981" y="3496947"/>
            <a:ext cx="5028113" cy="3021377"/>
          </a:xfrm>
          <a:custGeom>
            <a:avLst/>
            <a:gdLst/>
            <a:ahLst/>
            <a:cxnLst/>
            <a:rect l="l" t="t" r="r" b="b"/>
            <a:pathLst>
              <a:path w="5028113" h="3021377">
                <a:moveTo>
                  <a:pt x="0" y="0"/>
                </a:moveTo>
                <a:lnTo>
                  <a:pt x="5028114" y="0"/>
                </a:lnTo>
                <a:lnTo>
                  <a:pt x="5028114" y="3021378"/>
                </a:lnTo>
                <a:lnTo>
                  <a:pt x="0" y="30213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562893" y="6543680"/>
            <a:ext cx="5048051" cy="3024068"/>
          </a:xfrm>
          <a:custGeom>
            <a:avLst/>
            <a:gdLst/>
            <a:ahLst/>
            <a:cxnLst/>
            <a:rect l="l" t="t" r="r" b="b"/>
            <a:pathLst>
              <a:path w="5048051" h="3024068">
                <a:moveTo>
                  <a:pt x="0" y="0"/>
                </a:moveTo>
                <a:lnTo>
                  <a:pt x="5048051" y="0"/>
                </a:lnTo>
                <a:lnTo>
                  <a:pt x="5048051" y="3024068"/>
                </a:lnTo>
                <a:lnTo>
                  <a:pt x="0" y="30240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518981" y="6543680"/>
            <a:ext cx="5028113" cy="3024068"/>
          </a:xfrm>
          <a:custGeom>
            <a:avLst/>
            <a:gdLst/>
            <a:ahLst/>
            <a:cxnLst/>
            <a:rect l="l" t="t" r="r" b="b"/>
            <a:pathLst>
              <a:path w="5028113" h="3024068">
                <a:moveTo>
                  <a:pt x="0" y="0"/>
                </a:moveTo>
                <a:lnTo>
                  <a:pt x="5028114" y="0"/>
                </a:lnTo>
                <a:lnTo>
                  <a:pt x="5028114" y="3024068"/>
                </a:lnTo>
                <a:lnTo>
                  <a:pt x="0" y="30240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547095" y="3496947"/>
            <a:ext cx="5085884" cy="3046732"/>
          </a:xfrm>
          <a:custGeom>
            <a:avLst/>
            <a:gdLst/>
            <a:ahLst/>
            <a:cxnLst/>
            <a:rect l="l" t="t" r="r" b="b"/>
            <a:pathLst>
              <a:path w="5085884" h="3046732">
                <a:moveTo>
                  <a:pt x="0" y="0"/>
                </a:moveTo>
                <a:lnTo>
                  <a:pt x="5085883" y="0"/>
                </a:lnTo>
                <a:lnTo>
                  <a:pt x="5085883" y="3046733"/>
                </a:lnTo>
                <a:lnTo>
                  <a:pt x="0" y="30467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055934" y="6543680"/>
            <a:ext cx="4062136" cy="3049651"/>
          </a:xfrm>
          <a:custGeom>
            <a:avLst/>
            <a:gdLst/>
            <a:ahLst/>
            <a:cxnLst/>
            <a:rect l="l" t="t" r="r" b="b"/>
            <a:pathLst>
              <a:path w="4062136" h="3049651">
                <a:moveTo>
                  <a:pt x="0" y="0"/>
                </a:moveTo>
                <a:lnTo>
                  <a:pt x="4062135" y="0"/>
                </a:lnTo>
                <a:lnTo>
                  <a:pt x="4062135" y="3049651"/>
                </a:lnTo>
                <a:lnTo>
                  <a:pt x="0" y="30496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8021780" y="396096"/>
            <a:ext cx="9775652" cy="2079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000"/>
              </a:lnSpc>
            </a:pPr>
            <a:r>
              <a:rPr lang="en-US" sz="8000" spc="-160">
                <a:solidFill>
                  <a:srgbClr val="000000"/>
                </a:solidFill>
                <a:latin typeface="TT Commons Pro Expanded"/>
              </a:rPr>
              <a:t>Fundamental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2289" y="474678"/>
            <a:ext cx="8291711" cy="240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>
              <a:lnSpc>
                <a:spcPts val="3779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Canva Sans"/>
              </a:rPr>
              <a:t>4 Companies were selected</a:t>
            </a:r>
          </a:p>
          <a:p>
            <a:pPr marL="1165860" lvl="2" indent="-388620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Canva Sans"/>
              </a:rPr>
              <a:t>Company 1</a:t>
            </a:r>
          </a:p>
          <a:p>
            <a:pPr marL="1165860" lvl="2" indent="-388620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Canva Sans"/>
              </a:rPr>
              <a:t>Company 2</a:t>
            </a:r>
          </a:p>
          <a:p>
            <a:pPr marL="1165860" lvl="2" indent="-388620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Canva Sans"/>
              </a:rPr>
              <a:t>Company 3</a:t>
            </a:r>
          </a:p>
          <a:p>
            <a:pPr marL="1165860" lvl="2" indent="-388620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Canva Sans"/>
              </a:rPr>
              <a:t>Company 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09 - 20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C1E9100-22A8-4821-5D64-557F29542C0D}"/>
                  </a:ext>
                </a:extLst>
              </p14:cNvPr>
              <p14:cNvContentPartPr/>
              <p14:nvPr/>
            </p14:nvContentPartPr>
            <p14:xfrm>
              <a:off x="4896495" y="6655684"/>
              <a:ext cx="149040" cy="10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C1E9100-22A8-4821-5D64-557F29542C0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90375" y="6649564"/>
                <a:ext cx="16128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E25B7DF-929F-4A39-60B2-55C197259EDA}"/>
                  </a:ext>
                </a:extLst>
              </p14:cNvPr>
              <p14:cNvContentPartPr/>
              <p14:nvPr/>
            </p14:nvContentPartPr>
            <p14:xfrm>
              <a:off x="4905855" y="6617524"/>
              <a:ext cx="258120" cy="9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E25B7DF-929F-4A39-60B2-55C197259ED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43215" y="6554524"/>
                <a:ext cx="38376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A5CD851-E93A-F6D7-6D91-6941EB0314C0}"/>
                  </a:ext>
                </a:extLst>
              </p14:cNvPr>
              <p14:cNvContentPartPr/>
              <p14:nvPr/>
            </p14:nvContentPartPr>
            <p14:xfrm>
              <a:off x="14217255" y="6798964"/>
              <a:ext cx="697320" cy="15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A5CD851-E93A-F6D7-6D91-6941EB0314C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4154255" y="6735964"/>
                <a:ext cx="82296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B14786A-BEE4-8524-2A50-6FC2CB464F59}"/>
                  </a:ext>
                </a:extLst>
              </p14:cNvPr>
              <p14:cNvContentPartPr/>
              <p14:nvPr/>
            </p14:nvContentPartPr>
            <p14:xfrm>
              <a:off x="4267215" y="3727084"/>
              <a:ext cx="779760" cy="385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B14786A-BEE4-8524-2A50-6FC2CB464F5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04215" y="3664444"/>
                <a:ext cx="90540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39D2A8F-D387-33AA-33F5-C09060A75E53}"/>
                  </a:ext>
                </a:extLst>
              </p14:cNvPr>
              <p14:cNvContentPartPr/>
              <p14:nvPr/>
            </p14:nvContentPartPr>
            <p14:xfrm>
              <a:off x="9104535" y="3666244"/>
              <a:ext cx="884520" cy="997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39D2A8F-D387-33AA-33F5-C09060A75E5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041535" y="3603244"/>
                <a:ext cx="101016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7FB3006-3A49-C80D-64A4-D68AF9D98BFD}"/>
                  </a:ext>
                </a:extLst>
              </p14:cNvPr>
              <p14:cNvContentPartPr/>
              <p14:nvPr/>
            </p14:nvContentPartPr>
            <p14:xfrm>
              <a:off x="14167935" y="3696844"/>
              <a:ext cx="883440" cy="84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7FB3006-3A49-C80D-64A4-D68AF9D98BF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4105295" y="3633844"/>
                <a:ext cx="100908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998E6EC-5FAA-4C5F-D6B1-E2685A4EA98F}"/>
                  </a:ext>
                </a:extLst>
              </p14:cNvPr>
              <p14:cNvContentPartPr/>
              <p14:nvPr/>
            </p14:nvContentPartPr>
            <p14:xfrm>
              <a:off x="4709655" y="3782884"/>
              <a:ext cx="340560" cy="518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998E6EC-5FAA-4C5F-D6B1-E2685A4EA98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692015" y="3765244"/>
                <a:ext cx="37620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547CE4F-C273-4E9C-C70E-2E8ECB9AF11F}"/>
                  </a:ext>
                </a:extLst>
              </p14:cNvPr>
              <p14:cNvContentPartPr/>
              <p14:nvPr/>
            </p14:nvContentPartPr>
            <p14:xfrm>
              <a:off x="9701775" y="3788644"/>
              <a:ext cx="228240" cy="46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547CE4F-C273-4E9C-C70E-2E8ECB9AF11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684135" y="3770644"/>
                <a:ext cx="2638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D48E504-5B57-B791-4303-F052A1A3E235}"/>
                  </a:ext>
                </a:extLst>
              </p14:cNvPr>
              <p14:cNvContentPartPr/>
              <p14:nvPr/>
            </p14:nvContentPartPr>
            <p14:xfrm>
              <a:off x="9438975" y="6794284"/>
              <a:ext cx="897840" cy="88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D48E504-5B57-B791-4303-F052A1A3E23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420975" y="6776284"/>
                <a:ext cx="9334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4F9DA03-6EAE-F461-0352-1F2A7FC68343}"/>
                  </a:ext>
                </a:extLst>
              </p14:cNvPr>
              <p14:cNvContentPartPr/>
              <p14:nvPr/>
            </p14:nvContentPartPr>
            <p14:xfrm>
              <a:off x="14058495" y="6782404"/>
              <a:ext cx="93960" cy="1047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4F9DA03-6EAE-F461-0352-1F2A7FC6834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4040855" y="6764404"/>
                <a:ext cx="129600" cy="140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19234">
            <a:off x="-3412284" y="-2817076"/>
            <a:ext cx="11909285" cy="13610612"/>
          </a:xfrm>
          <a:custGeom>
            <a:avLst/>
            <a:gdLst/>
            <a:ahLst/>
            <a:cxnLst/>
            <a:rect l="l" t="t" r="r" b="b"/>
            <a:pathLst>
              <a:path w="11909285" h="13610612">
                <a:moveTo>
                  <a:pt x="0" y="0"/>
                </a:moveTo>
                <a:lnTo>
                  <a:pt x="11909285" y="0"/>
                </a:lnTo>
                <a:lnTo>
                  <a:pt x="11909285" y="13610612"/>
                </a:lnTo>
                <a:lnTo>
                  <a:pt x="0" y="13610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2016472">
            <a:off x="13650289" y="5351725"/>
            <a:ext cx="6436082" cy="7813150"/>
          </a:xfrm>
          <a:custGeom>
            <a:avLst/>
            <a:gdLst/>
            <a:ahLst/>
            <a:cxnLst/>
            <a:rect l="l" t="t" r="r" b="b"/>
            <a:pathLst>
              <a:path w="6436082" h="7813150">
                <a:moveTo>
                  <a:pt x="0" y="0"/>
                </a:moveTo>
                <a:lnTo>
                  <a:pt x="6436082" y="0"/>
                </a:lnTo>
                <a:lnTo>
                  <a:pt x="6436082" y="7813150"/>
                </a:lnTo>
                <a:lnTo>
                  <a:pt x="0" y="7813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18150" y="2423063"/>
            <a:ext cx="15392930" cy="6352638"/>
          </a:xfrm>
          <a:custGeom>
            <a:avLst/>
            <a:gdLst/>
            <a:ahLst/>
            <a:cxnLst/>
            <a:rect l="l" t="t" r="r" b="b"/>
            <a:pathLst>
              <a:path w="15392930" h="6352638">
                <a:moveTo>
                  <a:pt x="0" y="0"/>
                </a:moveTo>
                <a:lnTo>
                  <a:pt x="15392930" y="0"/>
                </a:lnTo>
                <a:lnTo>
                  <a:pt x="15392930" y="6352637"/>
                </a:lnTo>
                <a:lnTo>
                  <a:pt x="0" y="6352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735545" y="1470439"/>
            <a:ext cx="4816911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2599">
                <a:solidFill>
                  <a:srgbClr val="FF5757"/>
                </a:solidFill>
                <a:latin typeface="TT Commons Pro Expanded"/>
              </a:rPr>
              <a:t>PHASE 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86313" y="356966"/>
            <a:ext cx="8715375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-160">
                <a:solidFill>
                  <a:srgbClr val="000000"/>
                </a:solidFill>
                <a:latin typeface="TT Commons Pro Expanded"/>
              </a:rPr>
              <a:t>Methodology</a:t>
            </a:r>
          </a:p>
        </p:txBody>
      </p:sp>
      <p:sp>
        <p:nvSpPr>
          <p:cNvPr id="7" name="AutoShape 7"/>
          <p:cNvSpPr/>
          <p:nvPr/>
        </p:nvSpPr>
        <p:spPr>
          <a:xfrm>
            <a:off x="15521971" y="6174581"/>
            <a:ext cx="2986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10 - 20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856586">
            <a:off x="6103599" y="-3238183"/>
            <a:ext cx="17878692" cy="21704027"/>
          </a:xfrm>
          <a:custGeom>
            <a:avLst/>
            <a:gdLst/>
            <a:ahLst/>
            <a:cxnLst/>
            <a:rect l="l" t="t" r="r" b="b"/>
            <a:pathLst>
              <a:path w="17878692" h="21704027">
                <a:moveTo>
                  <a:pt x="0" y="0"/>
                </a:moveTo>
                <a:lnTo>
                  <a:pt x="17878692" y="0"/>
                </a:lnTo>
                <a:lnTo>
                  <a:pt x="17878692" y="21704026"/>
                </a:lnTo>
                <a:lnTo>
                  <a:pt x="0" y="21704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63860" y="5924526"/>
            <a:ext cx="11795440" cy="3298828"/>
          </a:xfrm>
          <a:custGeom>
            <a:avLst/>
            <a:gdLst/>
            <a:ahLst/>
            <a:cxnLst/>
            <a:rect l="l" t="t" r="r" b="b"/>
            <a:pathLst>
              <a:path w="11795440" h="3298828">
                <a:moveTo>
                  <a:pt x="0" y="0"/>
                </a:moveTo>
                <a:lnTo>
                  <a:pt x="11795440" y="0"/>
                </a:lnTo>
                <a:lnTo>
                  <a:pt x="11795440" y="3298828"/>
                </a:lnTo>
                <a:lnTo>
                  <a:pt x="0" y="3298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256174" y="286271"/>
            <a:ext cx="9775652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-160">
                <a:solidFill>
                  <a:srgbClr val="000000"/>
                </a:solidFill>
                <a:latin typeface="TT Commons Pro Expanded"/>
              </a:rPr>
              <a:t>Strategies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514044"/>
            <a:ext cx="284023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Strategy 1 &amp; 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96599" y="5076825"/>
            <a:ext cx="212605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Strategy 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11 - 20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28861D-69F8-2CB4-13F2-A16376348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9" y="2247900"/>
            <a:ext cx="12170421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19234">
            <a:off x="-3412284" y="-2817076"/>
            <a:ext cx="11909285" cy="13610612"/>
          </a:xfrm>
          <a:custGeom>
            <a:avLst/>
            <a:gdLst/>
            <a:ahLst/>
            <a:cxnLst/>
            <a:rect l="l" t="t" r="r" b="b"/>
            <a:pathLst>
              <a:path w="11909285" h="13610612">
                <a:moveTo>
                  <a:pt x="0" y="0"/>
                </a:moveTo>
                <a:lnTo>
                  <a:pt x="11909285" y="0"/>
                </a:lnTo>
                <a:lnTo>
                  <a:pt x="11909285" y="13610612"/>
                </a:lnTo>
                <a:lnTo>
                  <a:pt x="0" y="13610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2016472">
            <a:off x="13650289" y="5351725"/>
            <a:ext cx="6436082" cy="7813150"/>
          </a:xfrm>
          <a:custGeom>
            <a:avLst/>
            <a:gdLst/>
            <a:ahLst/>
            <a:cxnLst/>
            <a:rect l="l" t="t" r="r" b="b"/>
            <a:pathLst>
              <a:path w="6436082" h="7813150">
                <a:moveTo>
                  <a:pt x="0" y="0"/>
                </a:moveTo>
                <a:lnTo>
                  <a:pt x="6436082" y="0"/>
                </a:lnTo>
                <a:lnTo>
                  <a:pt x="6436082" y="7813150"/>
                </a:lnTo>
                <a:lnTo>
                  <a:pt x="0" y="7813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2290320"/>
            <a:ext cx="16230600" cy="6148735"/>
          </a:xfrm>
          <a:custGeom>
            <a:avLst/>
            <a:gdLst/>
            <a:ahLst/>
            <a:cxnLst/>
            <a:rect l="l" t="t" r="r" b="b"/>
            <a:pathLst>
              <a:path w="16230600" h="6148735">
                <a:moveTo>
                  <a:pt x="0" y="0"/>
                </a:moveTo>
                <a:lnTo>
                  <a:pt x="16230600" y="0"/>
                </a:lnTo>
                <a:lnTo>
                  <a:pt x="16230600" y="6148735"/>
                </a:lnTo>
                <a:lnTo>
                  <a:pt x="0" y="61487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735545" y="1470439"/>
            <a:ext cx="4816911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2599">
                <a:solidFill>
                  <a:srgbClr val="FF5757"/>
                </a:solidFill>
                <a:latin typeface="TT Commons Pro Expanded"/>
              </a:rPr>
              <a:t>PHASE 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86313" y="356966"/>
            <a:ext cx="8715375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spc="-160">
                <a:solidFill>
                  <a:srgbClr val="000000"/>
                </a:solidFill>
                <a:latin typeface="TT Commons Pro Expanded"/>
              </a:rPr>
              <a:t>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12 - 20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97361">
            <a:off x="9977576" y="-3899328"/>
            <a:ext cx="9922408" cy="11339895"/>
          </a:xfrm>
          <a:custGeom>
            <a:avLst/>
            <a:gdLst/>
            <a:ahLst/>
            <a:cxnLst/>
            <a:rect l="l" t="t" r="r" b="b"/>
            <a:pathLst>
              <a:path w="9922408" h="11339895">
                <a:moveTo>
                  <a:pt x="0" y="0"/>
                </a:moveTo>
                <a:lnTo>
                  <a:pt x="9922408" y="0"/>
                </a:lnTo>
                <a:lnTo>
                  <a:pt x="9922408" y="11339895"/>
                </a:lnTo>
                <a:lnTo>
                  <a:pt x="0" y="11339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72790" y="2161540"/>
            <a:ext cx="8046862" cy="3086100"/>
            <a:chOff x="0" y="0"/>
            <a:chExt cx="2119338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19338" cy="812800"/>
            </a:xfrm>
            <a:custGeom>
              <a:avLst/>
              <a:gdLst/>
              <a:ahLst/>
              <a:cxnLst/>
              <a:rect l="l" t="t" r="r" b="b"/>
              <a:pathLst>
                <a:path w="2119338" h="812800">
                  <a:moveTo>
                    <a:pt x="0" y="0"/>
                  </a:moveTo>
                  <a:lnTo>
                    <a:pt x="2119338" y="0"/>
                  </a:lnTo>
                  <a:lnTo>
                    <a:pt x="21193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119338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6152538"/>
            <a:ext cx="7675300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nva Sans Bold"/>
              </a:rPr>
              <a:t>Random Forest</a:t>
            </a: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</a:rPr>
              <a:t>Displayed overfitting</a:t>
            </a: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</a:rPr>
              <a:t>Larger gap between Train and Test RMSE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3170" y="2385378"/>
            <a:ext cx="7675300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nva Sans Bold"/>
              </a:rPr>
              <a:t>XGBoost</a:t>
            </a: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</a:rPr>
              <a:t>Displayed overfitting</a:t>
            </a: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</a:rPr>
              <a:t>Used lags to reduce overfitting but no huge improvement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84000" y="6152538"/>
            <a:ext cx="7675300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nva Sans Bold"/>
              </a:rPr>
              <a:t>LSTM</a:t>
            </a: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</a:rPr>
              <a:t>Lesser to no overfitting comparatively</a:t>
            </a: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</a:rPr>
              <a:t>Higher ATA and R2 values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42919" y="5638165"/>
            <a:ext cx="8046862" cy="3086100"/>
            <a:chOff x="0" y="0"/>
            <a:chExt cx="2119338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9338" cy="812800"/>
            </a:xfrm>
            <a:custGeom>
              <a:avLst/>
              <a:gdLst/>
              <a:ahLst/>
              <a:cxnLst/>
              <a:rect l="l" t="t" r="r" b="b"/>
              <a:pathLst>
                <a:path w="2119338" h="812800">
                  <a:moveTo>
                    <a:pt x="0" y="0"/>
                  </a:moveTo>
                  <a:lnTo>
                    <a:pt x="2119338" y="0"/>
                  </a:lnTo>
                  <a:lnTo>
                    <a:pt x="21193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119338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98219" y="2161540"/>
            <a:ext cx="8046862" cy="3086100"/>
            <a:chOff x="0" y="0"/>
            <a:chExt cx="2119338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19338" cy="812800"/>
            </a:xfrm>
            <a:custGeom>
              <a:avLst/>
              <a:gdLst/>
              <a:ahLst/>
              <a:cxnLst/>
              <a:rect l="l" t="t" r="r" b="b"/>
              <a:pathLst>
                <a:path w="2119338" h="812800">
                  <a:moveTo>
                    <a:pt x="0" y="0"/>
                  </a:moveTo>
                  <a:lnTo>
                    <a:pt x="2119338" y="0"/>
                  </a:lnTo>
                  <a:lnTo>
                    <a:pt x="21193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119338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27389" y="5638165"/>
            <a:ext cx="8046862" cy="3086100"/>
            <a:chOff x="0" y="0"/>
            <a:chExt cx="2119338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19338" cy="812800"/>
            </a:xfrm>
            <a:custGeom>
              <a:avLst/>
              <a:gdLst/>
              <a:ahLst/>
              <a:cxnLst/>
              <a:rect l="l" t="t" r="r" b="b"/>
              <a:pathLst>
                <a:path w="2119338" h="812800">
                  <a:moveTo>
                    <a:pt x="0" y="0"/>
                  </a:moveTo>
                  <a:lnTo>
                    <a:pt x="2119338" y="0"/>
                  </a:lnTo>
                  <a:lnTo>
                    <a:pt x="21193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119338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28700" y="700644"/>
            <a:ext cx="1085446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8000" spc="-160">
                <a:solidFill>
                  <a:srgbClr val="000000"/>
                </a:solidFill>
                <a:latin typeface="TT Commons Pro Expanded"/>
              </a:rPr>
              <a:t>Implementation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2385378"/>
            <a:ext cx="7675300" cy="265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Canva Sans Bold"/>
              </a:rPr>
              <a:t>ARIMA</a:t>
            </a: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Canva Sans"/>
              </a:rPr>
              <a:t>Displayed overfitting</a:t>
            </a: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Canva Sans"/>
              </a:rPr>
              <a:t>High AIC values</a:t>
            </a: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Canva Sans"/>
              </a:rPr>
              <a:t>Did not provide a model for Company 4 data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13 - 20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16472">
            <a:off x="14284723" y="6297685"/>
            <a:ext cx="5448085" cy="6613760"/>
          </a:xfrm>
          <a:custGeom>
            <a:avLst/>
            <a:gdLst/>
            <a:ahLst/>
            <a:cxnLst/>
            <a:rect l="l" t="t" r="r" b="b"/>
            <a:pathLst>
              <a:path w="5448085" h="6613760">
                <a:moveTo>
                  <a:pt x="0" y="0"/>
                </a:moveTo>
                <a:lnTo>
                  <a:pt x="5448085" y="0"/>
                </a:lnTo>
                <a:lnTo>
                  <a:pt x="5448085" y="6613759"/>
                </a:lnTo>
                <a:lnTo>
                  <a:pt x="0" y="6613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819234">
            <a:off x="-2311890" y="-3354383"/>
            <a:ext cx="8825839" cy="10086673"/>
          </a:xfrm>
          <a:custGeom>
            <a:avLst/>
            <a:gdLst/>
            <a:ahLst/>
            <a:cxnLst/>
            <a:rect l="l" t="t" r="r" b="b"/>
            <a:pathLst>
              <a:path w="8825839" h="10086673">
                <a:moveTo>
                  <a:pt x="0" y="0"/>
                </a:moveTo>
                <a:lnTo>
                  <a:pt x="8825839" y="0"/>
                </a:lnTo>
                <a:lnTo>
                  <a:pt x="8825839" y="10086672"/>
                </a:lnTo>
                <a:lnTo>
                  <a:pt x="0" y="10086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31217" y="4339694"/>
            <a:ext cx="8489002" cy="2536053"/>
          </a:xfrm>
          <a:custGeom>
            <a:avLst/>
            <a:gdLst/>
            <a:ahLst/>
            <a:cxnLst/>
            <a:rect l="l" t="t" r="r" b="b"/>
            <a:pathLst>
              <a:path w="8489002" h="2536053">
                <a:moveTo>
                  <a:pt x="0" y="0"/>
                </a:moveTo>
                <a:lnTo>
                  <a:pt x="8489001" y="0"/>
                </a:lnTo>
                <a:lnTo>
                  <a:pt x="8489001" y="2536053"/>
                </a:lnTo>
                <a:lnTo>
                  <a:pt x="0" y="2536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267782" y="4339694"/>
            <a:ext cx="8489002" cy="2536053"/>
          </a:xfrm>
          <a:custGeom>
            <a:avLst/>
            <a:gdLst/>
            <a:ahLst/>
            <a:cxnLst/>
            <a:rect l="l" t="t" r="r" b="b"/>
            <a:pathLst>
              <a:path w="8489002" h="2536053">
                <a:moveTo>
                  <a:pt x="0" y="0"/>
                </a:moveTo>
                <a:lnTo>
                  <a:pt x="8489001" y="0"/>
                </a:lnTo>
                <a:lnTo>
                  <a:pt x="8489001" y="2536053"/>
                </a:lnTo>
                <a:lnTo>
                  <a:pt x="0" y="25360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1947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828033"/>
            <a:ext cx="4816911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8000" spc="-160">
                <a:solidFill>
                  <a:srgbClr val="000000"/>
                </a:solidFill>
                <a:latin typeface="TT Commons Pro Expanded"/>
              </a:rPr>
              <a:t>Result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812283"/>
            <a:ext cx="7645301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Canva Sans Bold"/>
              </a:rPr>
              <a:t>Best Forecasting Model - LSTM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3067" y="3044540"/>
            <a:ext cx="7645301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 Bold"/>
              </a:rPr>
              <a:t>Results of the Forecasting Model used for for Strategy 1&amp;2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4101" y="7689851"/>
            <a:ext cx="1631979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</a:rPr>
              <a:t>LSTM was chosen to forecast the daily closing prices to backtest the strategies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89632" y="3044540"/>
            <a:ext cx="7645301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 Bold"/>
              </a:rPr>
              <a:t>Results of the Forecasting Model used for for Strategy 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14 - 20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43F50B-B175-7A65-7A7B-FAEFC76774D9}"/>
              </a:ext>
            </a:extLst>
          </p:cNvPr>
          <p:cNvSpPr txBox="1"/>
          <p:nvPr/>
        </p:nvSpPr>
        <p:spPr>
          <a:xfrm>
            <a:off x="609600" y="5219700"/>
            <a:ext cx="1143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A42979-4004-670D-F79C-FEA33D6903A0}"/>
              </a:ext>
            </a:extLst>
          </p:cNvPr>
          <p:cNvSpPr txBox="1"/>
          <p:nvPr/>
        </p:nvSpPr>
        <p:spPr>
          <a:xfrm>
            <a:off x="609600" y="5647133"/>
            <a:ext cx="1143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907E37-2F3A-A508-1C86-6C789940D0FB}"/>
              </a:ext>
            </a:extLst>
          </p:cNvPr>
          <p:cNvSpPr txBox="1"/>
          <p:nvPr/>
        </p:nvSpPr>
        <p:spPr>
          <a:xfrm>
            <a:off x="637104" y="6046759"/>
            <a:ext cx="1143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266290-88E5-431F-8245-C80A896C799C}"/>
              </a:ext>
            </a:extLst>
          </p:cNvPr>
          <p:cNvSpPr txBox="1"/>
          <p:nvPr/>
        </p:nvSpPr>
        <p:spPr>
          <a:xfrm>
            <a:off x="631723" y="6461237"/>
            <a:ext cx="1143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AC7A11-CE6A-5414-D2F6-733416460C55}"/>
              </a:ext>
            </a:extLst>
          </p:cNvPr>
          <p:cNvSpPr txBox="1"/>
          <p:nvPr/>
        </p:nvSpPr>
        <p:spPr>
          <a:xfrm>
            <a:off x="9332976" y="5219700"/>
            <a:ext cx="1143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A63B43-7E46-1B14-6C5B-E9FD09B42EE8}"/>
              </a:ext>
            </a:extLst>
          </p:cNvPr>
          <p:cNvSpPr txBox="1"/>
          <p:nvPr/>
        </p:nvSpPr>
        <p:spPr>
          <a:xfrm>
            <a:off x="9332976" y="5586061"/>
            <a:ext cx="1143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8CBC1B-2665-2BED-9A2C-29272CB91858}"/>
              </a:ext>
            </a:extLst>
          </p:cNvPr>
          <p:cNvSpPr txBox="1"/>
          <p:nvPr/>
        </p:nvSpPr>
        <p:spPr>
          <a:xfrm>
            <a:off x="9372600" y="5985687"/>
            <a:ext cx="1143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4F08F5F-3242-CF71-9F78-1A39AA28F295}"/>
                  </a:ext>
                </a:extLst>
              </p14:cNvPr>
              <p14:cNvContentPartPr/>
              <p14:nvPr/>
            </p14:nvContentPartPr>
            <p14:xfrm>
              <a:off x="9572789" y="6475651"/>
              <a:ext cx="3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4F08F5F-3242-CF71-9F78-1A39AA28F2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10149" y="64130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E154DCA-3D78-774A-002F-0F7862C7F1D7}"/>
                  </a:ext>
                </a:extLst>
              </p14:cNvPr>
              <p14:cNvContentPartPr/>
              <p14:nvPr/>
            </p14:nvContentPartPr>
            <p14:xfrm>
              <a:off x="9432749" y="6492931"/>
              <a:ext cx="766800" cy="608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E154DCA-3D78-774A-002F-0F7862C7F1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69749" y="6429931"/>
                <a:ext cx="89244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361E1F3-0E9B-86DA-A524-F6E435617C48}"/>
                  </a:ext>
                </a:extLst>
              </p14:cNvPr>
              <p14:cNvContentPartPr/>
              <p14:nvPr/>
            </p14:nvContentPartPr>
            <p14:xfrm>
              <a:off x="9648029" y="6456571"/>
              <a:ext cx="53208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361E1F3-0E9B-86DA-A524-F6E435617C4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85029" y="6393931"/>
                <a:ext cx="65772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F67A814D-1771-A771-8E19-0A174BE6C663}"/>
              </a:ext>
            </a:extLst>
          </p:cNvPr>
          <p:cNvSpPr txBox="1"/>
          <p:nvPr/>
        </p:nvSpPr>
        <p:spPr>
          <a:xfrm>
            <a:off x="9372600" y="6438900"/>
            <a:ext cx="1143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4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833B49A-BA6C-67F7-9696-B9763A3DB598}"/>
              </a:ext>
            </a:extLst>
          </p:cNvPr>
          <p:cNvCxnSpPr/>
          <p:nvPr/>
        </p:nvCxnSpPr>
        <p:spPr>
          <a:xfrm>
            <a:off x="10515600" y="5143500"/>
            <a:ext cx="0" cy="1732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16472">
            <a:off x="14284723" y="6297685"/>
            <a:ext cx="5448085" cy="6613760"/>
          </a:xfrm>
          <a:custGeom>
            <a:avLst/>
            <a:gdLst/>
            <a:ahLst/>
            <a:cxnLst/>
            <a:rect l="l" t="t" r="r" b="b"/>
            <a:pathLst>
              <a:path w="5448085" h="6613760">
                <a:moveTo>
                  <a:pt x="0" y="0"/>
                </a:moveTo>
                <a:lnTo>
                  <a:pt x="5448085" y="0"/>
                </a:lnTo>
                <a:lnTo>
                  <a:pt x="5448085" y="6613759"/>
                </a:lnTo>
                <a:lnTo>
                  <a:pt x="0" y="6613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819234">
            <a:off x="-2311890" y="-3354383"/>
            <a:ext cx="8825839" cy="10086673"/>
          </a:xfrm>
          <a:custGeom>
            <a:avLst/>
            <a:gdLst/>
            <a:ahLst/>
            <a:cxnLst/>
            <a:rect l="l" t="t" r="r" b="b"/>
            <a:pathLst>
              <a:path w="8825839" h="10086673">
                <a:moveTo>
                  <a:pt x="0" y="0"/>
                </a:moveTo>
                <a:lnTo>
                  <a:pt x="8825839" y="0"/>
                </a:lnTo>
                <a:lnTo>
                  <a:pt x="8825839" y="10086672"/>
                </a:lnTo>
                <a:lnTo>
                  <a:pt x="0" y="10086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64261" y="2845482"/>
            <a:ext cx="8249499" cy="3140073"/>
          </a:xfrm>
          <a:custGeom>
            <a:avLst/>
            <a:gdLst/>
            <a:ahLst/>
            <a:cxnLst/>
            <a:rect l="l" t="t" r="r" b="b"/>
            <a:pathLst>
              <a:path w="8249499" h="3140073">
                <a:moveTo>
                  <a:pt x="0" y="0"/>
                </a:moveTo>
                <a:lnTo>
                  <a:pt x="8249499" y="0"/>
                </a:lnTo>
                <a:lnTo>
                  <a:pt x="8249499" y="3140073"/>
                </a:lnTo>
                <a:lnTo>
                  <a:pt x="0" y="3140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144000" y="2305587"/>
            <a:ext cx="8782737" cy="5964654"/>
          </a:xfrm>
          <a:custGeom>
            <a:avLst/>
            <a:gdLst/>
            <a:ahLst/>
            <a:cxnLst/>
            <a:rect l="l" t="t" r="r" b="b"/>
            <a:pathLst>
              <a:path w="8782737" h="5964654">
                <a:moveTo>
                  <a:pt x="0" y="0"/>
                </a:moveTo>
                <a:lnTo>
                  <a:pt x="8782737" y="0"/>
                </a:lnTo>
                <a:lnTo>
                  <a:pt x="8782737" y="5964654"/>
                </a:lnTo>
                <a:lnTo>
                  <a:pt x="0" y="59646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828033"/>
            <a:ext cx="4816911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8000" spc="-160">
                <a:solidFill>
                  <a:srgbClr val="000000"/>
                </a:solidFill>
                <a:latin typeface="TT Commons Pro Expanded"/>
              </a:rPr>
              <a:t>Result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812283"/>
            <a:ext cx="5549603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Canva Sans Bold"/>
              </a:rPr>
              <a:t>Backtesting Strategy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4261" y="6280830"/>
            <a:ext cx="8249499" cy="222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5614" lvl="1" indent="-272807">
              <a:lnSpc>
                <a:spcPts val="3538"/>
              </a:lnSpc>
              <a:buFont typeface="Arial"/>
              <a:buChar char="•"/>
            </a:pPr>
            <a:r>
              <a:rPr lang="en-US" sz="2527" dirty="0">
                <a:solidFill>
                  <a:srgbClr val="000000"/>
                </a:solidFill>
                <a:latin typeface="Canva Sans"/>
              </a:rPr>
              <a:t>All the models have outperformed the Mean Reversion Strategy.</a:t>
            </a:r>
          </a:p>
          <a:p>
            <a:pPr>
              <a:lnSpc>
                <a:spcPts val="3538"/>
              </a:lnSpc>
            </a:pPr>
            <a:endParaRPr lang="en-US" sz="2527" dirty="0">
              <a:solidFill>
                <a:srgbClr val="000000"/>
              </a:solidFill>
              <a:latin typeface="Canva Sans"/>
            </a:endParaRPr>
          </a:p>
          <a:p>
            <a:pPr marL="545614" lvl="1" indent="-272807">
              <a:lnSpc>
                <a:spcPts val="3538"/>
              </a:lnSpc>
              <a:buFont typeface="Arial"/>
              <a:buChar char="•"/>
            </a:pPr>
            <a:r>
              <a:rPr lang="en-US" sz="2527" dirty="0">
                <a:solidFill>
                  <a:srgbClr val="000000"/>
                </a:solidFill>
                <a:latin typeface="Canva Sans"/>
              </a:rPr>
              <a:t>All the models except for Company 4 has outperformed the Buy and Hold Strategy.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15 - 20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B75F89-54B1-AC01-EDF2-3A568C395EF2}"/>
              </a:ext>
            </a:extLst>
          </p:cNvPr>
          <p:cNvSpPr txBox="1"/>
          <p:nvPr/>
        </p:nvSpPr>
        <p:spPr>
          <a:xfrm>
            <a:off x="685800" y="4457700"/>
            <a:ext cx="1066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11D605-E1F5-635B-F5B8-8F1A8511D5F4}"/>
              </a:ext>
            </a:extLst>
          </p:cNvPr>
          <p:cNvSpPr txBox="1"/>
          <p:nvPr/>
        </p:nvSpPr>
        <p:spPr>
          <a:xfrm>
            <a:off x="685800" y="4801925"/>
            <a:ext cx="1066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31F4DC-E468-3697-04F3-A9C7A14DFAB6}"/>
              </a:ext>
            </a:extLst>
          </p:cNvPr>
          <p:cNvSpPr txBox="1"/>
          <p:nvPr/>
        </p:nvSpPr>
        <p:spPr>
          <a:xfrm>
            <a:off x="685800" y="5188783"/>
            <a:ext cx="1066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A80F65-5EAB-1FDD-BE83-F8D1512517F3}"/>
              </a:ext>
            </a:extLst>
          </p:cNvPr>
          <p:cNvSpPr txBox="1"/>
          <p:nvPr/>
        </p:nvSpPr>
        <p:spPr>
          <a:xfrm>
            <a:off x="685800" y="5585944"/>
            <a:ext cx="1066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16472">
            <a:off x="14284723" y="6297685"/>
            <a:ext cx="5448085" cy="6613760"/>
          </a:xfrm>
          <a:custGeom>
            <a:avLst/>
            <a:gdLst/>
            <a:ahLst/>
            <a:cxnLst/>
            <a:rect l="l" t="t" r="r" b="b"/>
            <a:pathLst>
              <a:path w="5448085" h="6613760">
                <a:moveTo>
                  <a:pt x="0" y="0"/>
                </a:moveTo>
                <a:lnTo>
                  <a:pt x="5448085" y="0"/>
                </a:lnTo>
                <a:lnTo>
                  <a:pt x="5448085" y="6613759"/>
                </a:lnTo>
                <a:lnTo>
                  <a:pt x="0" y="6613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819234">
            <a:off x="-2311890" y="-3354383"/>
            <a:ext cx="8825839" cy="10086673"/>
          </a:xfrm>
          <a:custGeom>
            <a:avLst/>
            <a:gdLst/>
            <a:ahLst/>
            <a:cxnLst/>
            <a:rect l="l" t="t" r="r" b="b"/>
            <a:pathLst>
              <a:path w="8825839" h="10086673">
                <a:moveTo>
                  <a:pt x="0" y="0"/>
                </a:moveTo>
                <a:lnTo>
                  <a:pt x="8825839" y="0"/>
                </a:lnTo>
                <a:lnTo>
                  <a:pt x="8825839" y="10086672"/>
                </a:lnTo>
                <a:lnTo>
                  <a:pt x="0" y="10086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64261" y="2845482"/>
            <a:ext cx="8274584" cy="3156567"/>
          </a:xfrm>
          <a:custGeom>
            <a:avLst/>
            <a:gdLst/>
            <a:ahLst/>
            <a:cxnLst/>
            <a:rect l="l" t="t" r="r" b="b"/>
            <a:pathLst>
              <a:path w="8274584" h="3156567">
                <a:moveTo>
                  <a:pt x="0" y="0"/>
                </a:moveTo>
                <a:lnTo>
                  <a:pt x="8274584" y="0"/>
                </a:lnTo>
                <a:lnTo>
                  <a:pt x="8274584" y="3156567"/>
                </a:lnTo>
                <a:lnTo>
                  <a:pt x="0" y="31565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135960" y="1115761"/>
            <a:ext cx="8685082" cy="7566110"/>
          </a:xfrm>
          <a:custGeom>
            <a:avLst/>
            <a:gdLst/>
            <a:ahLst/>
            <a:cxnLst/>
            <a:rect l="l" t="t" r="r" b="b"/>
            <a:pathLst>
              <a:path w="8685082" h="7566110">
                <a:moveTo>
                  <a:pt x="0" y="0"/>
                </a:moveTo>
                <a:lnTo>
                  <a:pt x="8685082" y="0"/>
                </a:lnTo>
                <a:lnTo>
                  <a:pt x="8685082" y="7566110"/>
                </a:lnTo>
                <a:lnTo>
                  <a:pt x="0" y="7566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828033"/>
            <a:ext cx="4816911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8000" spc="-160">
                <a:solidFill>
                  <a:srgbClr val="000000"/>
                </a:solidFill>
                <a:latin typeface="TT Commons Pro Expanded"/>
              </a:rPr>
              <a:t>Result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1011" y="1812283"/>
            <a:ext cx="5564981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Canva Sans Bold"/>
              </a:rPr>
              <a:t>Backtesting Strategy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4261" y="6280830"/>
            <a:ext cx="8249499" cy="2664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5614" lvl="1" indent="-272807">
              <a:lnSpc>
                <a:spcPts val="3538"/>
              </a:lnSpc>
              <a:buFont typeface="Arial"/>
              <a:buChar char="•"/>
            </a:pPr>
            <a:r>
              <a:rPr lang="en-US" sz="2527" dirty="0">
                <a:solidFill>
                  <a:srgbClr val="000000"/>
                </a:solidFill>
                <a:latin typeface="Canva Sans"/>
              </a:rPr>
              <a:t>All the models have outperformed the Mean Reversion Strategy except for Company 3.</a:t>
            </a:r>
          </a:p>
          <a:p>
            <a:pPr>
              <a:lnSpc>
                <a:spcPts val="3538"/>
              </a:lnSpc>
            </a:pPr>
            <a:endParaRPr lang="en-US" sz="2527" dirty="0">
              <a:solidFill>
                <a:srgbClr val="000000"/>
              </a:solidFill>
              <a:latin typeface="Canva Sans"/>
            </a:endParaRPr>
          </a:p>
          <a:p>
            <a:pPr marL="545614" lvl="1" indent="-272807">
              <a:lnSpc>
                <a:spcPts val="3538"/>
              </a:lnSpc>
              <a:buFont typeface="Arial"/>
              <a:buChar char="•"/>
            </a:pPr>
            <a:r>
              <a:rPr lang="en-US" sz="2527" dirty="0">
                <a:solidFill>
                  <a:srgbClr val="000000"/>
                </a:solidFill>
                <a:latin typeface="Canva Sans"/>
              </a:rPr>
              <a:t>All the models except for Company 2 and Company 4 have outperformed the Buy and Hold Strategy.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16 - 20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71D5DB-5F00-24AE-3489-E0A91BA61EEF}"/>
              </a:ext>
            </a:extLst>
          </p:cNvPr>
          <p:cNvSpPr txBox="1"/>
          <p:nvPr/>
        </p:nvSpPr>
        <p:spPr>
          <a:xfrm>
            <a:off x="685800" y="4457700"/>
            <a:ext cx="1066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3F8A39-42D8-F7CE-D3D9-FE4CC97E9E06}"/>
              </a:ext>
            </a:extLst>
          </p:cNvPr>
          <p:cNvSpPr txBox="1"/>
          <p:nvPr/>
        </p:nvSpPr>
        <p:spPr>
          <a:xfrm>
            <a:off x="685800" y="4835723"/>
            <a:ext cx="1066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5A92F4-A0B3-EFF5-4BDC-18BD10476883}"/>
              </a:ext>
            </a:extLst>
          </p:cNvPr>
          <p:cNvSpPr txBox="1"/>
          <p:nvPr/>
        </p:nvSpPr>
        <p:spPr>
          <a:xfrm>
            <a:off x="685800" y="5216723"/>
            <a:ext cx="1066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9D553AB-A0AE-1044-7A74-4EBFEEA6B573}"/>
                  </a:ext>
                </a:extLst>
              </p14:cNvPr>
              <p14:cNvContentPartPr/>
              <p14:nvPr/>
            </p14:nvContentPartPr>
            <p14:xfrm>
              <a:off x="895349" y="5709571"/>
              <a:ext cx="691200" cy="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9D553AB-A0AE-1044-7A74-4EBFEEA6B5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2349" y="5583571"/>
                <a:ext cx="816840" cy="2520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35F3EA0-6E10-3E36-2ED3-CD35FCDA96CD}"/>
              </a:ext>
            </a:extLst>
          </p:cNvPr>
          <p:cNvSpPr txBox="1"/>
          <p:nvPr/>
        </p:nvSpPr>
        <p:spPr>
          <a:xfrm>
            <a:off x="685800" y="5600700"/>
            <a:ext cx="1066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E4BF6CD-E7BC-2EE3-51CB-754654DE6092}"/>
                  </a:ext>
                </a:extLst>
              </p14:cNvPr>
              <p14:cNvContentPartPr/>
              <p14:nvPr/>
            </p14:nvContentPartPr>
            <p14:xfrm>
              <a:off x="904053" y="4627401"/>
              <a:ext cx="520560" cy="81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E4BF6CD-E7BC-2EE3-51CB-754654DE60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413" y="4564401"/>
                <a:ext cx="646200" cy="2073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reeform 2"/>
          <p:cNvSpPr/>
          <p:nvPr/>
        </p:nvSpPr>
        <p:spPr>
          <a:xfrm rot="2016472">
            <a:off x="14284723" y="6297685"/>
            <a:ext cx="5448085" cy="6613760"/>
          </a:xfrm>
          <a:custGeom>
            <a:avLst/>
            <a:gdLst/>
            <a:ahLst/>
            <a:cxnLst/>
            <a:rect l="l" t="t" r="r" b="b"/>
            <a:pathLst>
              <a:path w="5448085" h="6613760">
                <a:moveTo>
                  <a:pt x="0" y="0"/>
                </a:moveTo>
                <a:lnTo>
                  <a:pt x="5448085" y="0"/>
                </a:lnTo>
                <a:lnTo>
                  <a:pt x="5448085" y="6613759"/>
                </a:lnTo>
                <a:lnTo>
                  <a:pt x="0" y="66137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819234">
            <a:off x="-2324759" y="-3376948"/>
            <a:ext cx="8825839" cy="10086673"/>
          </a:xfrm>
          <a:custGeom>
            <a:avLst/>
            <a:gdLst/>
            <a:ahLst/>
            <a:cxnLst/>
            <a:rect l="l" t="t" r="r" b="b"/>
            <a:pathLst>
              <a:path w="8825839" h="10086673">
                <a:moveTo>
                  <a:pt x="0" y="0"/>
                </a:moveTo>
                <a:lnTo>
                  <a:pt x="8825839" y="0"/>
                </a:lnTo>
                <a:lnTo>
                  <a:pt x="8825839" y="10086672"/>
                </a:lnTo>
                <a:lnTo>
                  <a:pt x="0" y="100866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64261" y="2907408"/>
            <a:ext cx="8420933" cy="3240249"/>
          </a:xfrm>
          <a:custGeom>
            <a:avLst/>
            <a:gdLst/>
            <a:ahLst/>
            <a:cxnLst/>
            <a:rect l="l" t="t" r="r" b="b"/>
            <a:pathLst>
              <a:path w="8420933" h="3240249">
                <a:moveTo>
                  <a:pt x="0" y="0"/>
                </a:moveTo>
                <a:lnTo>
                  <a:pt x="8420933" y="0"/>
                </a:lnTo>
                <a:lnTo>
                  <a:pt x="8420933" y="3240249"/>
                </a:lnTo>
                <a:lnTo>
                  <a:pt x="0" y="32402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144000" y="2357867"/>
            <a:ext cx="8986874" cy="5307209"/>
          </a:xfrm>
          <a:custGeom>
            <a:avLst/>
            <a:gdLst/>
            <a:ahLst/>
            <a:cxnLst/>
            <a:rect l="l" t="t" r="r" b="b"/>
            <a:pathLst>
              <a:path w="8986874" h="5307209">
                <a:moveTo>
                  <a:pt x="0" y="0"/>
                </a:moveTo>
                <a:lnTo>
                  <a:pt x="8986874" y="0"/>
                </a:lnTo>
                <a:lnTo>
                  <a:pt x="8986874" y="5307209"/>
                </a:lnTo>
                <a:lnTo>
                  <a:pt x="0" y="53072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828033"/>
            <a:ext cx="4816911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8000" spc="-160">
                <a:solidFill>
                  <a:srgbClr val="000000"/>
                </a:solidFill>
                <a:latin typeface="TT Commons Pro Expanded"/>
              </a:rPr>
              <a:t>Result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2478" y="1812283"/>
            <a:ext cx="5582047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Canva Sans Bold"/>
              </a:rPr>
              <a:t>Backtesting Strategy 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4261" y="6280830"/>
            <a:ext cx="8249499" cy="222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5614" lvl="1" indent="-272807">
              <a:lnSpc>
                <a:spcPts val="3538"/>
              </a:lnSpc>
              <a:buFont typeface="Arial"/>
              <a:buChar char="•"/>
            </a:pPr>
            <a:r>
              <a:rPr lang="en-US" sz="2527" dirty="0">
                <a:solidFill>
                  <a:srgbClr val="000000"/>
                </a:solidFill>
                <a:latin typeface="Canva Sans"/>
              </a:rPr>
              <a:t>All the models have outperformed the Mean Reversion Strategy.</a:t>
            </a:r>
          </a:p>
          <a:p>
            <a:pPr>
              <a:lnSpc>
                <a:spcPts val="3538"/>
              </a:lnSpc>
            </a:pPr>
            <a:endParaRPr lang="en-US" sz="2527" dirty="0">
              <a:solidFill>
                <a:srgbClr val="000000"/>
              </a:solidFill>
              <a:latin typeface="Canva Sans"/>
            </a:endParaRPr>
          </a:p>
          <a:p>
            <a:pPr marL="545614" lvl="1" indent="-272807">
              <a:lnSpc>
                <a:spcPts val="3538"/>
              </a:lnSpc>
              <a:buFont typeface="Arial"/>
              <a:buChar char="•"/>
            </a:pPr>
            <a:r>
              <a:rPr lang="en-US" sz="2527" dirty="0">
                <a:solidFill>
                  <a:srgbClr val="000000"/>
                </a:solidFill>
                <a:latin typeface="Canva Sans"/>
              </a:rPr>
              <a:t>All the models except for Company 1 has outperformed the Buy and Hold Strategy.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17 - 20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E0D1C-AAAD-C438-9135-F2181152B210}"/>
              </a:ext>
            </a:extLst>
          </p:cNvPr>
          <p:cNvSpPr txBox="1"/>
          <p:nvPr/>
        </p:nvSpPr>
        <p:spPr>
          <a:xfrm>
            <a:off x="685800" y="5369123"/>
            <a:ext cx="1066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220687-534B-9114-EA90-BD0C77C9D6C9}"/>
              </a:ext>
            </a:extLst>
          </p:cNvPr>
          <p:cNvSpPr txBox="1"/>
          <p:nvPr/>
        </p:nvSpPr>
        <p:spPr>
          <a:xfrm>
            <a:off x="685800" y="5750123"/>
            <a:ext cx="1066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4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2596EB0-B879-2928-4A81-003373069982}"/>
                  </a:ext>
                </a:extLst>
              </p14:cNvPr>
              <p14:cNvContentPartPr/>
              <p14:nvPr/>
            </p14:nvContentPartPr>
            <p14:xfrm>
              <a:off x="992068" y="4628374"/>
              <a:ext cx="401760" cy="216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2596EB0-B879-2928-4A81-00337306998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9428" y="4565734"/>
                <a:ext cx="527400" cy="14724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A8CE9A5-E016-C424-E828-5CFAF68D2DBC}"/>
              </a:ext>
            </a:extLst>
          </p:cNvPr>
          <p:cNvSpPr txBox="1"/>
          <p:nvPr/>
        </p:nvSpPr>
        <p:spPr>
          <a:xfrm>
            <a:off x="685800" y="4607123"/>
            <a:ext cx="1066800" cy="2926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CCB7949-A318-1F99-6C62-D79D0CDC2FA8}"/>
                  </a:ext>
                </a:extLst>
              </p14:cNvPr>
              <p14:cNvContentPartPr/>
              <p14:nvPr/>
            </p14:nvContentPartPr>
            <p14:xfrm>
              <a:off x="981268" y="5010694"/>
              <a:ext cx="398520" cy="381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CCB7949-A318-1F99-6C62-D79D0CDC2FA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268" y="4947694"/>
                <a:ext cx="524160" cy="1638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5590EFD-E57D-E2C0-A772-FEC579A7BEC4}"/>
              </a:ext>
            </a:extLst>
          </p:cNvPr>
          <p:cNvSpPr txBox="1"/>
          <p:nvPr/>
        </p:nvSpPr>
        <p:spPr>
          <a:xfrm>
            <a:off x="685800" y="4988123"/>
            <a:ext cx="1066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832745">
            <a:off x="9993879" y="2959950"/>
            <a:ext cx="11618640" cy="14104571"/>
          </a:xfrm>
          <a:custGeom>
            <a:avLst/>
            <a:gdLst/>
            <a:ahLst/>
            <a:cxnLst/>
            <a:rect l="l" t="t" r="r" b="b"/>
            <a:pathLst>
              <a:path w="11618640" h="14104571">
                <a:moveTo>
                  <a:pt x="0" y="0"/>
                </a:moveTo>
                <a:lnTo>
                  <a:pt x="11618641" y="0"/>
                </a:lnTo>
                <a:lnTo>
                  <a:pt x="11618641" y="14104570"/>
                </a:lnTo>
                <a:lnTo>
                  <a:pt x="0" y="1410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-5782422" y="-8574697"/>
            <a:ext cx="13622244" cy="16536867"/>
          </a:xfrm>
          <a:custGeom>
            <a:avLst/>
            <a:gdLst/>
            <a:ahLst/>
            <a:cxnLst/>
            <a:rect l="l" t="t" r="r" b="b"/>
            <a:pathLst>
              <a:path w="13622244" h="16536867">
                <a:moveTo>
                  <a:pt x="0" y="0"/>
                </a:moveTo>
                <a:lnTo>
                  <a:pt x="13622244" y="0"/>
                </a:lnTo>
                <a:lnTo>
                  <a:pt x="13622244" y="16536867"/>
                </a:lnTo>
                <a:lnTo>
                  <a:pt x="0" y="16536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181225"/>
            <a:ext cx="13243491" cy="745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T Commons Pro Expanded Bold"/>
              </a:rPr>
              <a:t>Model Performance:</a:t>
            </a:r>
            <a:r>
              <a:rPr lang="en-US" sz="3000">
                <a:solidFill>
                  <a:srgbClr val="000000"/>
                </a:solidFill>
                <a:latin typeface="TT Commons Pro Expanded"/>
              </a:rPr>
              <a:t> The LSTM model consistently outperforms other models in forecasting daily closing stock prices.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TT Commons Pro Expanded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T Commons Pro Expanded Bold"/>
              </a:rPr>
              <a:t>Strategy 1</a:t>
            </a:r>
            <a:r>
              <a:rPr lang="en-US" sz="3000">
                <a:solidFill>
                  <a:srgbClr val="000000"/>
                </a:solidFill>
                <a:latin typeface="TT Commons Pro Expanded"/>
              </a:rPr>
              <a:t>: Demonstrates superior performance compared to the Mean Reversion Strategy (MRS), especially for less volatile companies.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TT Commons Pro Expanded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T Commons Pro Expanded Bold"/>
              </a:rPr>
              <a:t>Strategy 2</a:t>
            </a:r>
            <a:r>
              <a:rPr lang="en-US" sz="3000">
                <a:solidFill>
                  <a:srgbClr val="000000"/>
                </a:solidFill>
                <a:latin typeface="TT Commons Pro Expanded"/>
              </a:rPr>
              <a:t>: Offers mixed results, outperforming MRS for highly volatile stocks.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TT Commons Pro Expanded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T Commons Pro Expanded Bold"/>
              </a:rPr>
              <a:t>Strategy 3</a:t>
            </a:r>
            <a:r>
              <a:rPr lang="en-US" sz="3000">
                <a:solidFill>
                  <a:srgbClr val="000000"/>
                </a:solidFill>
                <a:latin typeface="TT Commons Pro Expanded"/>
              </a:rPr>
              <a:t>: Performance varies, with positive effects for some companies but negative impacts on others. Requires further refinement.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TT Commons Pro Expanded"/>
            </a:endParaRPr>
          </a:p>
        </p:txBody>
      </p:sp>
      <p:sp>
        <p:nvSpPr>
          <p:cNvPr id="5" name="Freeform 5"/>
          <p:cNvSpPr/>
          <p:nvPr/>
        </p:nvSpPr>
        <p:spPr>
          <a:xfrm rot="5400000">
            <a:off x="13590172" y="3649708"/>
            <a:ext cx="5604709" cy="2987585"/>
          </a:xfrm>
          <a:custGeom>
            <a:avLst/>
            <a:gdLst/>
            <a:ahLst/>
            <a:cxnLst/>
            <a:rect l="l" t="t" r="r" b="b"/>
            <a:pathLst>
              <a:path w="5604709" h="2987585">
                <a:moveTo>
                  <a:pt x="0" y="0"/>
                </a:moveTo>
                <a:lnTo>
                  <a:pt x="5604709" y="0"/>
                </a:lnTo>
                <a:lnTo>
                  <a:pt x="5604709" y="2987584"/>
                </a:lnTo>
                <a:lnTo>
                  <a:pt x="0" y="2987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775386"/>
            <a:ext cx="8874561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8000" spc="-160">
                <a:solidFill>
                  <a:srgbClr val="000000"/>
                </a:solidFill>
                <a:latin typeface="TT Commons Pro Expanded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09489" y="9617198"/>
            <a:ext cx="5974219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TT Commons Pro Expanded"/>
              </a:rPr>
              <a:t>PAGE 18 - 20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A46B8-3E2C-6BC9-F51E-7814A6D5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C06556B-6459-B265-5E43-290ADCFD96FF}"/>
              </a:ext>
            </a:extLst>
          </p:cNvPr>
          <p:cNvSpPr/>
          <p:nvPr/>
        </p:nvSpPr>
        <p:spPr>
          <a:xfrm rot="-6832745">
            <a:off x="9993879" y="2959950"/>
            <a:ext cx="11618640" cy="14104571"/>
          </a:xfrm>
          <a:custGeom>
            <a:avLst/>
            <a:gdLst/>
            <a:ahLst/>
            <a:cxnLst/>
            <a:rect l="l" t="t" r="r" b="b"/>
            <a:pathLst>
              <a:path w="11618640" h="14104571">
                <a:moveTo>
                  <a:pt x="0" y="0"/>
                </a:moveTo>
                <a:lnTo>
                  <a:pt x="11618641" y="0"/>
                </a:lnTo>
                <a:lnTo>
                  <a:pt x="11618641" y="14104570"/>
                </a:lnTo>
                <a:lnTo>
                  <a:pt x="0" y="1410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B7A15DB-FDA2-5965-9228-FBC82DDD41F2}"/>
              </a:ext>
            </a:extLst>
          </p:cNvPr>
          <p:cNvSpPr/>
          <p:nvPr/>
        </p:nvSpPr>
        <p:spPr>
          <a:xfrm rot="-5400000">
            <a:off x="-5782422" y="-8574697"/>
            <a:ext cx="13622244" cy="16536867"/>
          </a:xfrm>
          <a:custGeom>
            <a:avLst/>
            <a:gdLst/>
            <a:ahLst/>
            <a:cxnLst/>
            <a:rect l="l" t="t" r="r" b="b"/>
            <a:pathLst>
              <a:path w="13622244" h="16536867">
                <a:moveTo>
                  <a:pt x="0" y="0"/>
                </a:moveTo>
                <a:lnTo>
                  <a:pt x="13622244" y="0"/>
                </a:lnTo>
                <a:lnTo>
                  <a:pt x="13622244" y="16536867"/>
                </a:lnTo>
                <a:lnTo>
                  <a:pt x="0" y="16536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9519586-659E-A421-1C7E-E8F26C914ECE}"/>
              </a:ext>
            </a:extLst>
          </p:cNvPr>
          <p:cNvSpPr txBox="1"/>
          <p:nvPr/>
        </p:nvSpPr>
        <p:spPr>
          <a:xfrm>
            <a:off x="1028700" y="2181224"/>
            <a:ext cx="16268700" cy="603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just"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T Commons Pro Expanded" panose="020B0604020202020204" charset="0"/>
              </a:rPr>
              <a:t>Expanded Analysis: </a:t>
            </a:r>
            <a:r>
              <a:rPr lang="en-US" sz="2800" dirty="0">
                <a:solidFill>
                  <a:srgbClr val="000000"/>
                </a:solidFill>
                <a:latin typeface="TT Commons Pro Expanded" panose="020B0604020202020204" charset="0"/>
              </a:rPr>
              <a:t>Future research could analyze all companies in the S&amp;P SL20 index for a broader understanding of market dynamics and sentiment-driven trading.</a:t>
            </a:r>
          </a:p>
          <a:p>
            <a:pPr marL="647700" lvl="1" indent="-323850" algn="just">
              <a:buFont typeface="Arial"/>
              <a:buChar char="•"/>
            </a:pPr>
            <a:endParaRPr lang="en-US" sz="2800" dirty="0">
              <a:solidFill>
                <a:srgbClr val="000000"/>
              </a:solidFill>
              <a:latin typeface="TT Commons Pro Expanded" panose="020B0604020202020204" charset="0"/>
            </a:endParaRPr>
          </a:p>
          <a:p>
            <a:pPr marL="647700" lvl="1" indent="-323850" algn="just"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T Commons Pro Expanded" panose="020B0604020202020204" charset="0"/>
              </a:rPr>
              <a:t>Enriched Sentiment Analysis: </a:t>
            </a:r>
            <a:r>
              <a:rPr lang="en-US" sz="2800" dirty="0">
                <a:solidFill>
                  <a:srgbClr val="000000"/>
                </a:solidFill>
                <a:latin typeface="TT Commons Pro Expanded" panose="020B0604020202020204" charset="0"/>
              </a:rPr>
              <a:t>Incorporating diverse news sources and using expert-annotated sentiment polarity could enhance the reliability and depth of sentiment </a:t>
            </a:r>
            <a:r>
              <a:rPr lang="en-US" sz="2800" dirty="0" err="1">
                <a:solidFill>
                  <a:srgbClr val="000000"/>
                </a:solidFill>
                <a:latin typeface="TT Commons Pro Expanded" panose="020B0604020202020204" charset="0"/>
              </a:rPr>
              <a:t>analysis.Advanced</a:t>
            </a:r>
            <a:r>
              <a:rPr lang="en-US" sz="2800" dirty="0">
                <a:solidFill>
                  <a:srgbClr val="000000"/>
                </a:solidFill>
                <a:latin typeface="TT Commons Pro Expanded" panose="020B0604020202020204" charset="0"/>
              </a:rPr>
              <a:t> </a:t>
            </a:r>
          </a:p>
          <a:p>
            <a:pPr marL="647700" lvl="1" indent="-323850" algn="just">
              <a:buFont typeface="Arial"/>
              <a:buChar char="•"/>
            </a:pPr>
            <a:endParaRPr lang="en-US" sz="2800" dirty="0">
              <a:solidFill>
                <a:srgbClr val="000000"/>
              </a:solidFill>
              <a:latin typeface="TT Commons Pro Expanded" panose="020B0604020202020204" charset="0"/>
            </a:endParaRPr>
          </a:p>
          <a:p>
            <a:pPr marL="647700" lvl="1" indent="-323850" algn="just"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T Commons Pro Expanded" panose="020B0604020202020204" charset="0"/>
              </a:rPr>
              <a:t>Forecasting Techniques: </a:t>
            </a:r>
            <a:r>
              <a:rPr lang="en-US" sz="2800" dirty="0">
                <a:solidFill>
                  <a:srgbClr val="000000"/>
                </a:solidFill>
                <a:latin typeface="TT Commons Pro Expanded" panose="020B0604020202020204" charset="0"/>
              </a:rPr>
              <a:t>Exploring methods like RNNs, Fuzzy Systems, Multivariate Time Series Forecasting, and SARIMA could refine predictive models and performance evaluation.</a:t>
            </a:r>
          </a:p>
          <a:p>
            <a:pPr marL="647700" lvl="1" indent="-323850" algn="just">
              <a:buFont typeface="Arial"/>
              <a:buChar char="•"/>
            </a:pPr>
            <a:endParaRPr lang="en-US" sz="2800" dirty="0">
              <a:solidFill>
                <a:srgbClr val="000000"/>
              </a:solidFill>
              <a:latin typeface="TT Commons Pro Expanded" panose="020B0604020202020204" charset="0"/>
            </a:endParaRPr>
          </a:p>
          <a:p>
            <a:pPr marL="647700" lvl="1" indent="-323850" algn="just"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T Commons Pro Expanded" panose="020B0604020202020204" charset="0"/>
              </a:rPr>
              <a:t>Optimized Backtesting: </a:t>
            </a:r>
            <a:r>
              <a:rPr lang="en-US" sz="2800" dirty="0">
                <a:solidFill>
                  <a:srgbClr val="000000"/>
                </a:solidFill>
                <a:latin typeface="TT Commons Pro Expanded" panose="020B0604020202020204" charset="0"/>
              </a:rPr>
              <a:t>Improved backtesting measures, including optimizing Sharpe and Sortino Ratios, could enhance the evaluation of trading strategy effectiveness and risk management.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B4F398B-70EE-8966-8E38-48028BC9EFC0}"/>
              </a:ext>
            </a:extLst>
          </p:cNvPr>
          <p:cNvSpPr txBox="1"/>
          <p:nvPr/>
        </p:nvSpPr>
        <p:spPr>
          <a:xfrm>
            <a:off x="1028700" y="775386"/>
            <a:ext cx="8874561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8000" spc="-160" dirty="0">
                <a:solidFill>
                  <a:srgbClr val="000000"/>
                </a:solidFill>
                <a:latin typeface="TT Commons Pro Expanded"/>
              </a:rPr>
              <a:t>Future Direction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B25972D-F0F0-2514-11C0-BCAFF4AE5328}"/>
              </a:ext>
            </a:extLst>
          </p:cNvPr>
          <p:cNvSpPr txBox="1"/>
          <p:nvPr/>
        </p:nvSpPr>
        <p:spPr>
          <a:xfrm>
            <a:off x="12109489" y="9617198"/>
            <a:ext cx="597421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T Commons Pro Expanded"/>
              </a:rPr>
              <a:t>PAGE 19 - 20</a:t>
            </a:r>
          </a:p>
        </p:txBody>
      </p:sp>
    </p:spTree>
    <p:extLst>
      <p:ext uri="{BB962C8B-B14F-4D97-AF65-F5344CB8AC3E}">
        <p14:creationId xmlns:p14="http://schemas.microsoft.com/office/powerpoint/2010/main" val="3910579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16472">
            <a:off x="12138332" y="3535728"/>
            <a:ext cx="8142234" cy="9884351"/>
          </a:xfrm>
          <a:custGeom>
            <a:avLst/>
            <a:gdLst/>
            <a:ahLst/>
            <a:cxnLst/>
            <a:rect l="l" t="t" r="r" b="b"/>
            <a:pathLst>
              <a:path w="8142234" h="9884351">
                <a:moveTo>
                  <a:pt x="0" y="0"/>
                </a:moveTo>
                <a:lnTo>
                  <a:pt x="8142234" y="0"/>
                </a:lnTo>
                <a:lnTo>
                  <a:pt x="8142234" y="9884351"/>
                </a:lnTo>
                <a:lnTo>
                  <a:pt x="0" y="9884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819234">
            <a:off x="-3368498" y="-3694596"/>
            <a:ext cx="8825839" cy="10086673"/>
          </a:xfrm>
          <a:custGeom>
            <a:avLst/>
            <a:gdLst/>
            <a:ahLst/>
            <a:cxnLst/>
            <a:rect l="l" t="t" r="r" b="b"/>
            <a:pathLst>
              <a:path w="8825839" h="10086673">
                <a:moveTo>
                  <a:pt x="0" y="0"/>
                </a:moveTo>
                <a:lnTo>
                  <a:pt x="8825838" y="0"/>
                </a:lnTo>
                <a:lnTo>
                  <a:pt x="8825838" y="10086672"/>
                </a:lnTo>
                <a:lnTo>
                  <a:pt x="0" y="10086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131171" y="4517057"/>
            <a:ext cx="12025658" cy="146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30"/>
              </a:lnSpc>
            </a:pPr>
            <a:r>
              <a:rPr lang="en-US" sz="11030" spc="1103">
                <a:solidFill>
                  <a:srgbClr val="000000"/>
                </a:solidFill>
                <a:latin typeface="TT Commons Pro Expanded"/>
              </a:rPr>
              <a:t>THANK YOU</a:t>
            </a:r>
          </a:p>
        </p:txBody>
      </p:sp>
      <p:sp>
        <p:nvSpPr>
          <p:cNvPr id="5" name="AutoShape 5"/>
          <p:cNvSpPr/>
          <p:nvPr/>
        </p:nvSpPr>
        <p:spPr>
          <a:xfrm>
            <a:off x="1044421" y="8487428"/>
            <a:ext cx="1619915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1220</Words>
  <Application>Microsoft Office PowerPoint</Application>
  <PresentationFormat>Custom</PresentationFormat>
  <Paragraphs>180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Canva Sans</vt:lpstr>
      <vt:lpstr>Calibri</vt:lpstr>
      <vt:lpstr>Canva Sans Bold</vt:lpstr>
      <vt:lpstr>Arial</vt:lpstr>
      <vt:lpstr>TT Commons Pro Expanded</vt:lpstr>
      <vt:lpstr>TT Commons Pro Expanded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by buddhima senarathna</dc:title>
  <dc:creator>Buddhima Senarathna</dc:creator>
  <cp:lastModifiedBy>Buddhima Senarathna</cp:lastModifiedBy>
  <cp:revision>13</cp:revision>
  <cp:lastPrinted>2024-12-25T14:16:20Z</cp:lastPrinted>
  <dcterms:created xsi:type="dcterms:W3CDTF">2006-08-16T00:00:00Z</dcterms:created>
  <dcterms:modified xsi:type="dcterms:W3CDTF">2024-12-25T14:22:49Z</dcterms:modified>
  <dc:identifier>DAGCAq8rd9A</dc:identifier>
</cp:coreProperties>
</file>
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all bracketed content. Do not present a technology stack without explaining the research gap, requirements, architecture, methodology and evaluation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F2DA8"/>
          </a:solidFill>
          <a:ln w="12700">
            <a:solidFill>
              <a:srgbClr val="6F2D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0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2DA8"/>
                </a:solidFill>
              </a:rPr>
              <a:t>6SENG010C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29"/>
                </a:solidFill>
              </a:rPr>
              <a:t>Software Engineering Final Project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5361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1F29"/>
                </a:solidFill>
              </a:rPr>
              <a:t>Project Proposal (PP) Live Presentation Template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224028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4B59"/>
                </a:solidFill>
              </a:rPr>
              <a:t>Research-oriented and software-engineering-oriented structure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2907792"/>
            <a:ext cx="5394960" cy="960120"/>
          </a:xfrm>
          <a:prstGeom prst="rect">
            <a:avLst/>
          </a:prstGeom>
          <a:solidFill>
            <a:srgbClr val="F6F2FA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907792"/>
            <a:ext cx="73152" cy="960120"/>
          </a:xfrm>
          <a:prstGeom prst="rect">
            <a:avLst/>
          </a:prstGeom>
          <a:solidFill>
            <a:srgbClr val="6F2DA8"/>
          </a:solidFill>
          <a:ln w="12700">
            <a:solidFill>
              <a:srgbClr val="6F2D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3017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Student details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3383280"/>
            <a:ext cx="512064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Student Name | IIT/UoW ID | Supervisor | Academic Year 2026-2027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2907792"/>
            <a:ext cx="5303520" cy="960120"/>
          </a:xfrm>
          <a:prstGeom prst="rect">
            <a:avLst/>
          </a:prstGeom>
          <a:solidFill>
            <a:srgbClr val="F6F2FA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2907792"/>
            <a:ext cx="73152" cy="960120"/>
          </a:xfrm>
          <a:prstGeom prst="rect">
            <a:avLst/>
          </a:prstGeom>
          <a:solidFill>
            <a:srgbClr val="6F2DA8"/>
          </a:solidFill>
          <a:ln w="12700">
            <a:solidFill>
              <a:srgbClr val="6F2D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Project title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28232" y="3383280"/>
            <a:ext cx="502920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[Insert concise research-informed software engineering project title]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4160520"/>
            <a:ext cx="10972800" cy="1051560"/>
          </a:xfrm>
          <a:prstGeom prst="rect">
            <a:avLst/>
          </a:prstGeom>
          <a:solidFill>
            <a:srgbClr val="F8F7FB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4160520"/>
            <a:ext cx="73152" cy="1051560"/>
          </a:xfrm>
          <a:prstGeom prst="rect">
            <a:avLst/>
          </a:prstGeom>
          <a:solidFill>
            <a:srgbClr val="007A78"/>
          </a:solidFill>
          <a:ln w="12700">
            <a:solidFill>
              <a:srgbClr val="007A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270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One-sentence research focus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8952" y="4636008"/>
            <a:ext cx="10698480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This project investigates [research problem/gap] by designing, implementing and evaluating [software artefact/approach] for [users/stakeholders/context].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" y="5806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4B59"/>
                </a:solidFill>
              </a:rPr>
              <a:t>Use this template to evidence both the research contribution and the software engineering artefact.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storyline: research spine + SE spine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4297680"/>
        </p:xfrm>
        <a:graphic>
          <a:graphicData uri="http://schemas.openxmlformats.org/drawingml/2006/table">
            <a:tbl>
              <a:tblPr/>
              <a:tblGrid>
                <a:gridCol w="2971800"/>
                <a:gridCol w="3246120"/>
                <a:gridCol w="4846320"/>
              </a:tblGrid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 spine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engineering spine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examiners should see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 context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users and product need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project addresses a meaningful SE problem/opportunity.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Literature and existing work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Requirements evidence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proposal is evidence-based, not a feature wish-list.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 gap and questions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Artefact scope and boundaries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 is a clear inquiry and a buildable response.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Methodology and evaluation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Architecture, implementation and testing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plan can generate defensible evidence.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Contribution and limitations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Deployment, risk and responsible practice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scope is substantial, feasible and ethical.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80644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4B59"/>
                </a:solidFill>
              </a:rPr>
              <a:t>Spoken summary: “I will show the research gap and contribution, then explain how the software artefact, methodology and evaluation will address it.”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or opportunity and project goal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3611880" cy="1325880"/>
          </a:xfrm>
          <a:prstGeom prst="rect">
            <a:avLst/>
          </a:prstGeom>
          <a:solidFill>
            <a:srgbClr val="F6F2FA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371600"/>
            <a:ext cx="73152" cy="1325880"/>
          </a:xfrm>
          <a:prstGeom prst="rect">
            <a:avLst/>
          </a:prstGeom>
          <a:solidFill>
            <a:srgbClr val="6F2DA8"/>
          </a:solidFill>
          <a:ln w="12700">
            <a:solidFill>
              <a:srgbClr val="6F2D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4813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Define the problem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1847088"/>
            <a:ext cx="333756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Context, affected users/stakeholders, consequences, current process/tool limitations, why the problem matters.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371600"/>
            <a:ext cx="3611880" cy="1325880"/>
          </a:xfrm>
          <a:prstGeom prst="rect">
            <a:avLst/>
          </a:prstGeom>
          <a:solidFill>
            <a:srgbClr val="F8F7FB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371600"/>
            <a:ext cx="73152" cy="1325880"/>
          </a:xfrm>
          <a:prstGeom prst="rect">
            <a:avLst/>
          </a:prstGeom>
          <a:solidFill>
            <a:srgbClr val="007A78"/>
          </a:solidFill>
          <a:ln w="12700">
            <a:solidFill>
              <a:srgbClr val="007A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07992" y="14813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Evidence of significance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07992" y="1847088"/>
            <a:ext cx="333756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Use academic, professional, domain and existing-solution evidence. Avoid unsupported claims.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371600"/>
            <a:ext cx="3474720" cy="1325880"/>
          </a:xfrm>
          <a:prstGeom prst="rect">
            <a:avLst/>
          </a:prstGeom>
          <a:solidFill>
            <a:srgbClr val="F6F2FA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371600"/>
            <a:ext cx="73152" cy="1325880"/>
          </a:xfrm>
          <a:prstGeom prst="rect">
            <a:avLst/>
          </a:prstGeom>
          <a:solidFill>
            <a:srgbClr val="6F2DA8"/>
          </a:solidFill>
          <a:ln w="12700">
            <a:solidFill>
              <a:srgbClr val="6F2D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1481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Project goal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02752" y="1847088"/>
            <a:ext cx="320040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State what will be designed, implemented and evaluated. Align problem -&gt; goal -&gt; artefact -&gt; outcomes.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154680"/>
          <a:ext cx="10835640" cy="2240280"/>
        </p:xfrm>
        <a:graphic>
          <a:graphicData uri="http://schemas.openxmlformats.org/drawingml/2006/table">
            <a:tbl>
              <a:tblPr/>
              <a:tblGrid>
                <a:gridCol w="2926080"/>
                <a:gridCol w="790956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PP content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Problem/opportunity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 concise problem statement]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Affected users/stakeholders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 groups and context]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goal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 build-and-evaluate goal]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outcomes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 measurable/observable outcomes]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evidence to research gap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4206240"/>
        </p:xfrm>
        <a:graphic>
          <a:graphicData uri="http://schemas.openxmlformats.org/drawingml/2006/table">
            <a:tbl>
              <a:tblPr/>
              <a:tblGrid>
                <a:gridCol w="2240280"/>
                <a:gridCol w="2560320"/>
                <a:gridCol w="2743200"/>
                <a:gridCol w="3520440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source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shows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Limitation/tension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Resulting research gap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Academic literature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[Key findings]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[What remains unresolved?]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[Research gap]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systems/tools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[Available capabilities]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[What they do not support well?]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[Practical/technical gap]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Domain/user evidence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[Observed need]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[Constraint/pain point]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[Contextual gap]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evidence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[Feasible approaches]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[Uncertainty/limitation]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[Engineering gap]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85800" y="5715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3030"/>
                </a:solidFill>
              </a:rPr>
              <a:t>Do not stop at “I found papers.” Explain how the evidence creates a defensible research gap and shapes the artefact.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literature landscape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3520440" cy="1143000"/>
          </a:xfrm>
          <a:prstGeom prst="rect">
            <a:avLst/>
          </a:prstGeom>
          <a:solidFill>
            <a:srgbClr val="F6F2FA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6F2DA8"/>
          </a:solidFill>
          <a:ln w="12700">
            <a:solidFill>
              <a:srgbClr val="6F2D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4356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Theme 1: problem domain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1801368"/>
            <a:ext cx="3246120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What is known about the domain problem, affected users, impact and constraints?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325880"/>
            <a:ext cx="3520440" cy="1143000"/>
          </a:xfrm>
          <a:prstGeom prst="rect">
            <a:avLst/>
          </a:prstGeom>
          <a:solidFill>
            <a:srgbClr val="F8F7FB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325880"/>
            <a:ext cx="73152" cy="1143000"/>
          </a:xfrm>
          <a:prstGeom prst="rect">
            <a:avLst/>
          </a:prstGeom>
          <a:solidFill>
            <a:srgbClr val="007A78"/>
          </a:solidFill>
          <a:ln w="12700">
            <a:solidFill>
              <a:srgbClr val="007A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07992" y="14356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Theme 2: methods/approaches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07992" y="1801368"/>
            <a:ext cx="3246120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What algorithms, architectures, processes, frameworks or SE practices have been tried?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325880"/>
            <a:ext cx="3429000" cy="1143000"/>
          </a:xfrm>
          <a:prstGeom prst="rect">
            <a:avLst/>
          </a:prstGeom>
          <a:solidFill>
            <a:srgbClr val="F6F2FA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325880"/>
            <a:ext cx="73152" cy="1143000"/>
          </a:xfrm>
          <a:prstGeom prst="rect">
            <a:avLst/>
          </a:prstGeom>
          <a:solidFill>
            <a:srgbClr val="6F2DA8"/>
          </a:solidFill>
          <a:ln w="12700">
            <a:solidFill>
              <a:srgbClr val="6F2D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1435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Theme 3: evaluation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02752" y="1801368"/>
            <a:ext cx="3154680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What metrics, baselines, datasets, test strategies or user-study designs are used?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80360"/>
          <a:ext cx="10835640" cy="256032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2743200"/>
                <a:gridCol w="28803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Paper/source cluster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contribution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Implication for this project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 A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 B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 C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640080" y="5806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4B59"/>
                </a:solidFill>
              </a:rPr>
              <a:t>Synthesis, not summaries: group evidence by themes, compare findings and identify tensions/gaps.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gap, novelty and contribution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3200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2926080"/>
                <a:gridCol w="2926080"/>
              </a:tblGrid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exists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is missing/weak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proposed novelty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contribution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[Existing approach/tool/method]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[Gap/limitation]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[New mechanism/framework/artefact/evaluation]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[Knowledge/practical contribution]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[Existing approach/tool/method]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[Gap/limitation]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[New mechanism/framework/artefact/evaluation]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[Knowledge/practical contribution]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[Existing approach/tool/method]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[Gap/limitation]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[New mechanism/framework/artefact/evaluation]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[Knowledge/practical contribution]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800600"/>
            <a:ext cx="10835640" cy="1005840"/>
          </a:xfrm>
          <a:prstGeom prst="rect">
            <a:avLst/>
          </a:prstGeom>
          <a:solidFill>
            <a:srgbClr val="F8F7FB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4800600"/>
            <a:ext cx="73152" cy="1005840"/>
          </a:xfrm>
          <a:prstGeom prst="rect">
            <a:avLst/>
          </a:prstGeom>
          <a:solidFill>
            <a:srgbClr val="6F2DA8"/>
          </a:solidFill>
          <a:ln w="12700">
            <a:solidFill>
              <a:srgbClr val="6F2D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4910328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Novelty check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4672" y="5276088"/>
            <a:ext cx="105613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Explain why the proposal is not merely a duplicated implementation or unnecessary integration. If the project is applied, novelty may come from framework design, workflow, evaluation, generalisation, explainability, safety, or SE process.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question(s), objectives and success criteria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4023360"/>
        </p:xfrm>
        <a:graphic>
          <a:graphicData uri="http://schemas.openxmlformats.org/drawingml/2006/table">
            <a:tbl>
              <a:tblPr/>
              <a:tblGrid>
                <a:gridCol w="3246120"/>
                <a:gridCol w="3749040"/>
                <a:gridCol w="4069080"/>
              </a:tblGrid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 question / objective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will be answered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of success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RQ1: [Insert research question]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[Experiment / evaluation / user feedback / comparison]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[Metric or qualitative evidence]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RQ2: [Insert optional question]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[Ablation / baseline / case study / testing]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[Metric or judgement criteria]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Objective 1: [Build artefact capability]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[Implementation milestone]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[Working increment / tests]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Objective 2: [Evaluate artefact]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[Evaluation protocol]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[Result, analysis and limitation]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715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4B59"/>
                </a:solidFill>
              </a:rPr>
              <a:t>Good RQs are answerable through the planned methodology; good objectives connect research inquiry to the software artefact.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solution and baseline comparison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11384280" cy="3840480"/>
        </p:xfrm>
        <a:graphic>
          <a:graphicData uri="http://schemas.openxmlformats.org/drawingml/2006/table">
            <a:tbl>
              <a:tblPr/>
              <a:tblGrid>
                <a:gridCol w="1920240"/>
                <a:gridCol w="2057400"/>
                <a:gridCol w="2057400"/>
                <a:gridCol w="2423160"/>
                <a:gridCol w="2926080"/>
              </a:tblGrid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Solution/baseline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Relevant capability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Limitation/gap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Implication for my design/evaluation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[Tool/model A]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[Requirement/baseline]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[Tool/model B]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[Requirement/baseline]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[Manual/current process]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[Evaluation comparison]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5394960"/>
            <a:ext cx="10835640" cy="777240"/>
          </a:xfrm>
          <a:prstGeom prst="rect">
            <a:avLst/>
          </a:prstGeom>
          <a:solidFill>
            <a:srgbClr val="F8F7FB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5394960"/>
            <a:ext cx="73152" cy="777240"/>
          </a:xfrm>
          <a:prstGeom prst="rect">
            <a:avLst/>
          </a:prstGeom>
          <a:solidFill>
            <a:srgbClr val="007A78"/>
          </a:solidFill>
          <a:ln w="12700">
            <a:solidFill>
              <a:srgbClr val="007A7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5504688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Minimum expectation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4672" y="5870448"/>
            <a:ext cx="1056132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Do not merely list tools or papers. Explain how comparison shapes requirements, architecture, evaluation metrics, baselines and scope.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Stakeholders, users and context of use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420624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2743200"/>
                <a:gridCol w="3108960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Stakeholder/user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or responsibility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source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implication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[Primary user]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[Need/problem]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[Interview/domain/literature]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[Feature/requirement]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[Secondary stakeholder]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[Concern]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[Professional/ethics evidence]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[Constraint/control]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[Institution/organisation]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[Policy or process]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[Domain evidence]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[Governance/boundary]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[Wider/public impact]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[Societal/EDI/safety issue]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[Guidance/literature]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[Responsible design decision]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715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4B59"/>
                </a:solidFill>
              </a:rPr>
              <a:t>For data/AI/health/security projects, include stakeholders affected by incorrect outputs, misuse, privacy risk or bias.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engineering: what the system must 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11384280" cy="4251960"/>
        </p:xfrm>
        <a:graphic>
          <a:graphicData uri="http://schemas.openxmlformats.org/drawingml/2006/table">
            <a:tbl>
              <a:tblPr/>
              <a:tblGrid>
                <a:gridCol w="685800"/>
                <a:gridCol w="3108960"/>
                <a:gridCol w="1325880"/>
                <a:gridCol w="2971800"/>
                <a:gridCol w="3291840"/>
              </a:tblGrid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Source/rationale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Acceptance evidence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FR1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[System shall...]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Functional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[User/literature/gap]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[Test/use-case]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NFR1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[Quality constraint]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[Risk/domain]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[Metric/test]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DR1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requirement]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[Dataset/domain]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[Validation]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ML/AI1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[Model/explainability requirement]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Model/AI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[RQ/evaluation]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[Metric/baseline]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B1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[Boundary/out of scope]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Boundary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[Feasibility]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[Scope statement]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77900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4B59"/>
                </a:solidFill>
              </a:rPr>
              <a:t>Requirements must be traceable to evidence and must connect to design, testing and evaluation.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technical solution and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01400" cy="420624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2743200"/>
                <a:gridCol w="361188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Layer/component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Responsibility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decision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Uncertainty to verify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interface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[Input/output workflow]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[Web/mobile/dashboard]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[Usability/accessibility]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API/backend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[Business logic, auth, orchestration]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[Framework/design]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[Performance/security]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Analysis/model engine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[Rules/ML/model/pipeline]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[Method/algorithm]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[Accuracy/robustness]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layer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[Storage/cache/logging]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[Database/file store]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[Privacy/governance]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Evaluation/reporting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[Metrics/export/audit]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[Evaluation design]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[Evidence quality]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715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4B59"/>
                </a:solidFill>
              </a:rPr>
              <a:t>Explain why this architecture is suitable for the research questions, requirements and responsible project constraints.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dataset or evidence strategy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01400" cy="420624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2971800"/>
                <a:gridCol w="3108960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Data/evidence need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Source/collection route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check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Ethics/security control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Training/benchmark data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[Public/collected/simulated dataset]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[Missing values, bias, representativeness]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[Licence, consent, storage]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Evaluation data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[Hold-out/external/case examples]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[Ground truth and sampling]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[Anonymisation]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User/domain feedback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[Survey/interview/usability test]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[Eligibility and protocol]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[Ethics approval/consent]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logs/test data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[Generated/sample data]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[Traceability]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[No sensitive retention]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715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4B59"/>
                </a:solidFill>
              </a:rPr>
              <a:t>Data strategy is part of the research design. State what data is needed, why it is legitimate, and how it supports evaluation.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methodology + development methodology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3886200"/>
        </p:xfrm>
        <a:graphic>
          <a:graphicData uri="http://schemas.openxmlformats.org/drawingml/2006/table">
            <a:tbl>
              <a:tblPr/>
              <a:tblGrid>
                <a:gridCol w="2514600"/>
                <a:gridCol w="3840480"/>
                <a:gridCol w="470916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Methodology layer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controls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PP content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 design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the knowledge claim will be investigated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[Design science / experiment / case study / comparative evaluation]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process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the artefact will be built iteratively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[Requirements -&gt; design -&gt; build -&gt; test -&gt; evaluate cycles]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Evaluation protocol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evidence will be collected and interpreted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[Metrics, baselines, sampling, tests, analysis]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Validity controls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bias and weak inference will be reduced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[Threats, limitations, reproducibility, triangulation]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5440680"/>
            <a:ext cx="10835640" cy="731520"/>
          </a:xfrm>
          <a:prstGeom prst="rect">
            <a:avLst/>
          </a:prstGeom>
          <a:solidFill>
            <a:srgbClr val="F8F7FB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5440680"/>
            <a:ext cx="73152" cy="731520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5550408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Important distinction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4672" y="5916168"/>
            <a:ext cx="10561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“Agile” is not a research methodology. Explain both the software development approach and the method used to answer the research question.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or evaluation design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4251960"/>
        </p:xfrm>
        <a:graphic>
          <a:graphicData uri="http://schemas.openxmlformats.org/drawingml/2006/table">
            <a:tbl>
              <a:tblPr/>
              <a:tblGrid>
                <a:gridCol w="2240280"/>
                <a:gridCol w="4937760"/>
                <a:gridCol w="3886200"/>
              </a:tblGrid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Evaluation element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 PP detail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content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Baseline/comparator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will the proposed approach be compared against?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will success be measured quantitatively/qualitatively?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Protocol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Train/test split, scenarios, participants, tasks or cases.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Ablation/sensitivity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component or parameter will be tested separately?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 criteria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result would support the project aim?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77900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4B59"/>
                </a:solidFill>
              </a:rPr>
              <a:t>A strong evaluation does not only show that the system runs; it shows whether the proposed contribution is useful, credible and limited.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Testing, quality assurance and traceability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01400" cy="4160520"/>
        </p:xfrm>
        <a:graphic>
          <a:graphicData uri="http://schemas.openxmlformats.org/drawingml/2006/table">
            <a:tbl>
              <a:tblPr/>
              <a:tblGrid>
                <a:gridCol w="2743200"/>
                <a:gridCol w="3886200"/>
                <a:gridCol w="4572000"/>
              </a:tblGrid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Test/QA area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expected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and component tests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Verify isolated logic and model pipeline steps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[Test results, coverage where suitable]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 tests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Verify components communicate correctly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[API, DB, model-service tests]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Requirements-based system tests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each major FR/NFR is satisfied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[Traceability matrix]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Data/model checks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 data leakage, bias, drift, invalid inputs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[Validation logs, error analysis]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Usability/accessibility/security checks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Assess responsible use and quality constraints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[Heuristic/user/security evidence]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715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4B59"/>
                </a:solidFill>
              </a:rPr>
              <a:t>Link tests to requirements and research questions. Testing is not an afterthought at final submission.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Iteration, feedback, change and AI verification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5257800" cy="1600200"/>
          </a:xfrm>
          <a:prstGeom prst="rect">
            <a:avLst/>
          </a:prstGeom>
          <a:solidFill>
            <a:srgbClr val="F6F2FA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25880"/>
            <a:ext cx="73152" cy="1600200"/>
          </a:xfrm>
          <a:prstGeom prst="rect">
            <a:avLst/>
          </a:prstGeom>
          <a:solidFill>
            <a:srgbClr val="6F2DA8"/>
          </a:solidFill>
          <a:ln w="12700">
            <a:solidFill>
              <a:srgbClr val="6F2D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4356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Iteration and feedback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1801368"/>
            <a:ext cx="4983480" cy="10332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How requirements will be refined; how supervisor/user/domain feedback will be captured; how changes will be prioritised; how uncertainty will be handled.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5257800" cy="1600200"/>
          </a:xfrm>
          <a:prstGeom prst="rect">
            <a:avLst/>
          </a:prstGeom>
          <a:solidFill>
            <a:srgbClr val="F8F7FB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25880"/>
            <a:ext cx="73152" cy="1600200"/>
          </a:xfrm>
          <a:prstGeom prst="rect">
            <a:avLst/>
          </a:prstGeom>
          <a:solidFill>
            <a:srgbClr val="007A78"/>
          </a:solidFill>
          <a:ln w="12700">
            <a:solidFill>
              <a:srgbClr val="007A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4356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AI use and verification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82512" y="1801368"/>
            <a:ext cx="4983480" cy="10332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Where AI may be used; what it will not replace; how code, design, tests and literature summaries will be checked; how ownership will be defended.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383280"/>
          <a:ext cx="10835640" cy="2057400"/>
        </p:xfrm>
        <a:graphic>
          <a:graphicData uri="http://schemas.openxmlformats.org/drawingml/2006/table">
            <a:tbl>
              <a:tblPr/>
              <a:tblGrid>
                <a:gridCol w="3200400"/>
                <a:gridCol w="3931920"/>
                <a:gridCol w="3703320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AI-assisted activity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Verification method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retained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[Code/test generation]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[Manual review, official docs, tests]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[Prompts, commits, tests]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[Literature summarisation]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[Read original source, citation check]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[Notes and source matrix]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[Design alternatives]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[Compare with requirements/risks]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[Decision record]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plan: stages, milestones and dependencies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01400" cy="3977640"/>
        </p:xfrm>
        <a:graphic>
          <a:graphicData uri="http://schemas.openxmlformats.org/drawingml/2006/table">
            <a:tbl>
              <a:tblPr/>
              <a:tblGrid>
                <a:gridCol w="1645920"/>
                <a:gridCol w="3749040"/>
                <a:gridCol w="3383280"/>
                <a:gridCol w="2423160"/>
              </a:tblGrid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work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Milestone/output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 -&gt; IPD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[Gap refinement, requirements, PoC]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[Working core proof-of-concept]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[Ethics/data access]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IPD -&gt; final build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[Full build/integration]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[Feature-complete artefact]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[Architecture choices]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Testing/evaluation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[Baseline tests, user/model evaluation]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[Evaluation dataset/results]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[Stable artefact]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Report/finalisation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[Analysis, limitations, report, demo]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[Final submission package]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[Results complete]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5321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4B59"/>
                </a:solidFill>
              </a:rPr>
              <a:t>A credible plan includes dependencies and fallback options, not only dates.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18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Risk, mitigation and contingency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01400" cy="4251960"/>
        </p:xfrm>
        <a:graphic>
          <a:graphicData uri="http://schemas.openxmlformats.org/drawingml/2006/table">
            <a:tbl>
              <a:tblPr/>
              <a:tblGrid>
                <a:gridCol w="2788920"/>
                <a:gridCol w="2148840"/>
                <a:gridCol w="3154680"/>
                <a:gridCol w="3108960"/>
              </a:tblGrid>
              <a:tr h="850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Likelihood / impact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Contingency / fallback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unavailable/weak]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[Verify early; identify alternatives]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[Synthetic/public/limited-scope evaluation]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[Model/engine underperforms]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[Baseline first; incremental PoC]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[Simpler method with stronger evaluation]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[Scope grows]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[MoSCoW; fixed exclusions]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[Core features only]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[Ethics/security issue]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[Early ethics and data controls]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[No personal data / sample data only]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77900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4B59"/>
                </a:solidFill>
              </a:rPr>
              <a:t>Include research risks, technical risks, data risks, schedule risks, responsible-practice risks and evaluation risks.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19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research and project considerations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01400" cy="4206240"/>
        </p:xfrm>
        <a:graphic>
          <a:graphicData uri="http://schemas.openxmlformats.org/drawingml/2006/table">
            <a:tbl>
              <a:tblPr/>
              <a:tblGrid>
                <a:gridCol w="2103120"/>
                <a:gridCol w="4434840"/>
                <a:gridCol w="466344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Project-specific issue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/ mitigation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Ethics and participants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[Consent, welfare, approval, no premature data collection]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[Ethics submission and approved protocol]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Legal/IP/data protection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[Licensing, privacy, retention, ownership]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minimisation and documented permissions]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and safety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[Misuse, sensitive data, false confidence]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[Access control, disclaimers, safety boundaries]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Accessibility / EDI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[Who may be excluded or disadvantaged?]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[Accessible UI and bias-aware evaluation]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Sustainability / professional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[Compute, honesty, public interest]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[Efficient design and transparent limitations]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715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4B59"/>
                </a:solidFill>
              </a:rPr>
              <a:t>Responsible considerations should change design, methodology or governance decisions. Avoid generic statements.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Scope, generalisation, limitations and closing defence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3429000" cy="1234440"/>
          </a:xfrm>
          <a:prstGeom prst="rect">
            <a:avLst/>
          </a:prstGeom>
          <a:solidFill>
            <a:srgbClr val="F6F2FA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25880"/>
            <a:ext cx="73152" cy="1234440"/>
          </a:xfrm>
          <a:prstGeom prst="rect">
            <a:avLst/>
          </a:prstGeom>
          <a:solidFill>
            <a:srgbClr val="6F2DA8"/>
          </a:solidFill>
          <a:ln w="12700">
            <a:solidFill>
              <a:srgbClr val="6F2D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435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Substantial SE work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1801368"/>
            <a:ext cx="3154680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What makes the artefact technically and analytically challenging? What is the engineering depth?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1325880"/>
            <a:ext cx="3429000" cy="1234440"/>
          </a:xfrm>
          <a:prstGeom prst="rect">
            <a:avLst/>
          </a:prstGeom>
          <a:solidFill>
            <a:srgbClr val="F8F7FB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325880"/>
            <a:ext cx="73152" cy="1234440"/>
          </a:xfrm>
          <a:prstGeom prst="rect">
            <a:avLst/>
          </a:prstGeom>
          <a:solidFill>
            <a:srgbClr val="007A78"/>
          </a:solidFill>
          <a:ln w="12700">
            <a:solidFill>
              <a:srgbClr val="007A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1435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Feasible boundaries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53712" y="1801368"/>
            <a:ext cx="3154680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What is included, excluded and prioritised? Why is this deliverable?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325880"/>
            <a:ext cx="3337560" cy="1234440"/>
          </a:xfrm>
          <a:prstGeom prst="rect">
            <a:avLst/>
          </a:prstGeom>
          <a:solidFill>
            <a:srgbClr val="F6F2FA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325880"/>
            <a:ext cx="73152" cy="1234440"/>
          </a:xfrm>
          <a:prstGeom prst="rect">
            <a:avLst/>
          </a:prstGeom>
          <a:solidFill>
            <a:srgbClr val="6F2DA8"/>
          </a:solidFill>
          <a:ln w="12700">
            <a:solidFill>
              <a:srgbClr val="6F2D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14356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Contribution and generalisation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02752" y="1801368"/>
            <a:ext cx="3063240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What can be learned beyond a single feature demo or dataset? What are the limitations?</a:t>
            </a:r>
            <a:endParaRPr lang="en-US" sz="11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71800"/>
          <a:ext cx="10835640" cy="2377440"/>
        </p:xfrm>
        <a:graphic>
          <a:graphicData uri="http://schemas.openxmlformats.org/drawingml/2006/table">
            <a:tbl>
              <a:tblPr/>
              <a:tblGrid>
                <a:gridCol w="3108960"/>
                <a:gridCol w="77266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Closing defence prompt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PP answer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This project addresses...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[specific SE research problem/opportunity]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is needed because...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[evidence and gap]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proposed contribution is...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[artefact/method/framework/evaluation]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scope is credible because...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[boundaries, plan, risk controls]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practice and references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5303520" cy="1417320"/>
          </a:xfrm>
          <a:prstGeom prst="rect">
            <a:avLst/>
          </a:prstGeom>
          <a:solidFill>
            <a:srgbClr val="F6F2FA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25880"/>
            <a:ext cx="73152" cy="1417320"/>
          </a:xfrm>
          <a:prstGeom prst="rect">
            <a:avLst/>
          </a:prstGeom>
          <a:solidFill>
            <a:srgbClr val="6F2DA8"/>
          </a:solidFill>
          <a:ln w="12700">
            <a:solidFill>
              <a:srgbClr val="6F2D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435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Cite sources when presenting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1801368"/>
            <a:ext cx="50292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Problem evidence, literature findings, existing-solution claims, datasets, methods, metrics, frameworks, technical documentation and professional/ethical guidance.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5257800" cy="1417320"/>
          </a:xfrm>
          <a:prstGeom prst="rect">
            <a:avLst/>
          </a:prstGeom>
          <a:solidFill>
            <a:srgbClr val="F8F7FB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25880"/>
            <a:ext cx="73152" cy="1417320"/>
          </a:xfrm>
          <a:prstGeom prst="rect">
            <a:avLst/>
          </a:prstGeom>
          <a:solidFill>
            <a:srgbClr val="007A78"/>
          </a:solidFill>
          <a:ln w="12700">
            <a:solidFill>
              <a:srgbClr val="007A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4356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Distinguish clearly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82512" y="1801368"/>
            <a:ext cx="498348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Existing evidence, AI-assisted content, third-party code/data/tools, and the student’s own analysis, design decisions and proposed contribution.</a:t>
            </a:r>
            <a:endParaRPr lang="en-US" sz="11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46120"/>
          <a:ext cx="10835640" cy="2240280"/>
        </p:xfrm>
        <a:graphic>
          <a:graphicData uri="http://schemas.openxmlformats.org/drawingml/2006/table">
            <a:tbl>
              <a:tblPr/>
              <a:tblGrid>
                <a:gridCol w="3931920"/>
                <a:gridCol w="6903720"/>
              </a:tblGrid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 list guidance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content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Harvard or required institutional style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 key references actually cited]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official documentation for tools/APIs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not cite AI as academic evidence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 verification note if needed]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/ Q&amp;A support slides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4663440"/>
        </p:xfrm>
        <a:graphic>
          <a:graphicData uri="http://schemas.openxmlformats.org/drawingml/2006/table">
            <a:tbl>
              <a:tblPr/>
              <a:tblGrid>
                <a:gridCol w="4114800"/>
                <a:gridCol w="6949440"/>
              </a:tblGrid>
              <a:tr h="666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Backup evidence to prepare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 during questions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Detailed literature/research gap matrix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Defend novelty and evidence base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Requirements traceability matrix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 source -&gt; requirement -&gt; test/evaluation link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 and preprocessing detail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Defend data strategy and validity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and metrics detail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Defend evaluation design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 and threat model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Defend feasibility, security and responsible design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prompt/output verification notes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Defend ownership and academic integrity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60807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4B59"/>
                </a:solidFill>
              </a:rPr>
              <a:t>Backup slides are not a substitute for a clear 20-minute presentation. Use them only when answering questions.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Informatics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6SENG010C SE PP Live Presentation Template 2026-2027 - Research and Software Engineering Oriented</dc:title>
  <dc:subject>6SENG010C Software Engineering Final Project Project Proposal</dc:subject>
  <dc:creator>Informatics Institute of Technology</dc:creator>
  <cp:lastModifiedBy>Informatics Institute of Technology</cp:lastModifiedBy>
  <cp:revision>1</cp:revision>
  <dcterms:created xsi:type="dcterms:W3CDTF">2026-09-21T23:37:45Z</dcterms:created>
  <dcterms:modified xsi:type="dcterms:W3CDTF">2026-09-21T23:37:45Z</dcterms:modified>
</cp:coreProperties>
</file>